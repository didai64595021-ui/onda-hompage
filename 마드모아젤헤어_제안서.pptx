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nd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059" y="1260000"/>
            <a:ext cx="3600000" cy="10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0000" y="2520000"/>
            <a:ext cx="103921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네이버 종합광고 실행사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951999"/>
            <a:ext cx="1039212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4000" b="1">
                <a:solidFill>
                  <a:srgbClr val="FFFFFF"/>
                </a:solidFill>
              </a:defRPr>
            </a:pPr>
            <a:r>
              <a:t>마드모아젤헤어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3780000"/>
            <a:ext cx="1039212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D4A853"/>
                </a:solidFill>
              </a:defRPr>
            </a:pPr>
            <a:r>
              <a:t>플레이스 순위 회복 및 방어 전략 제안서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4392000"/>
            <a:ext cx="103921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B0B8C8"/>
                </a:solidFill>
              </a:defRPr>
            </a:pPr>
            <a:r>
              <a:t>세종시 4개 지점 통합 진단 | 안전보장형 운영 제안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92119" y="6300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FFFFFF"/>
                </a:solidFill>
              </a:defRPr>
            </a:pPr>
            <a:r>
              <a:t>2026.03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nd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119" y="180000"/>
            <a:ext cx="1440000" cy="43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0000" y="648000"/>
            <a:ext cx="1039212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인사말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1188000"/>
            <a:ext cx="1440000" cy="3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440000"/>
            <a:ext cx="1039212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1A1A2E"/>
                </a:solidFill>
              </a:defRPr>
            </a:pPr>
            <a:r>
              <a:t>안녕하세요. 마드모아젤헤어 마케팅 미팅에 참여하게 되어 감사드립니다.</a:t>
            </a:r>
            <a:br/>
            <a:r>
              <a:t>저희는 네이버 플레이스, 인스타그램 등 온라인 채널을 통합 운영하는</a:t>
            </a:r>
            <a:br/>
            <a:r>
              <a:t>종합광고 실행사 온다마케팅입니다.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000" y="3060000"/>
            <a:ext cx="10392120" cy="12600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본 제안서는 귀사의 현재 플레이스 현황에 대한 진단과 함께,</a:t>
            </a:r>
            <a:br/>
            <a:r>
              <a:t>2026년 변화된 알고리즘 환경에 맞는 대응 전략을 담고 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2119" y="6408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99999"/>
                </a:solidFill>
              </a:defRPr>
            </a:pPr>
            <a:r>
              <a:t>온다마케팅 | 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nd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119" y="180000"/>
            <a:ext cx="1440000" cy="43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0000" y="648000"/>
            <a:ext cx="1039212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2026년, 플레이스 마케팅의 규칙이 바뀌었습니다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1188000"/>
            <a:ext cx="1440000" cy="3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0000" y="1620000"/>
            <a:ext cx="4500000" cy="23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과거 (2025년 이전)</a:t>
            </a:r>
            <a:br/>
            <a:br/>
            <a:r>
              <a:t>• 트래픽 양 = 순위</a:t>
            </a:r>
            <a:br/>
            <a:r>
              <a:t>• 3~6개월 단위 로직 변경</a:t>
            </a:r>
            <a:br/>
            <a:r>
              <a:t>• 배포형 블로그로 순위 상승 가능</a:t>
            </a:r>
            <a:br/>
            <a:r>
              <a:t>• 공격적 작업 = 빠른 성과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472000" y="2520000"/>
            <a:ext cx="396000" cy="36000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0000" y="1620000"/>
            <a:ext cx="4500000" cy="23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현재 (2026년 이후)</a:t>
            </a:r>
            <a:br/>
            <a:br/>
            <a:r>
              <a:t>• 트래픽 패턴 감지 → 제재/패널티</a:t>
            </a:r>
            <a:br/>
            <a:r>
              <a:t>• 1~2주 단위 세부 로직 변동</a:t>
            </a:r>
            <a:br/>
            <a:r>
              <a:t>• 배포형 블로그 대량 삭제 + 순위 급락</a:t>
            </a:r>
            <a:br/>
            <a:r>
              <a:t>• 공격적 작업 = 공격적 하락 수반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000" y="4500000"/>
            <a:ext cx="10392120" cy="900000"/>
          </a:xfrm>
          <a:prstGeom prst="roundRect">
            <a:avLst>
              <a:gd name="adj" fmla="val 5000"/>
            </a:avLst>
          </a:prstGeom>
          <a:solidFill>
            <a:srgbClr val="FEF9F0"/>
          </a:solidFill>
          <a:ln w="19050">
            <a:solidFill>
              <a:srgbClr val="D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l">
              <a:defRPr sz="1400" b="1">
                <a:solidFill>
                  <a:srgbClr val="1A1A2E"/>
                </a:solidFill>
              </a:defRPr>
            </a:pPr>
            <a:r>
              <a:t>핵심: 순위를 '올리는 것'보다, '지키는 것'이 더 어렵고 더 중요한 시대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32119" y="6408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99999"/>
                </a:solidFill>
              </a:defRPr>
            </a:pPr>
            <a:r>
              <a:t>온다마케팅 | 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nd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119" y="180000"/>
            <a:ext cx="1440000" cy="43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0000" y="648000"/>
            <a:ext cx="1039212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데이터 기반 순위 방어 체계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1188000"/>
            <a:ext cx="1440000" cy="3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0000" y="1620000"/>
            <a:ext cx="3344040" cy="306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000" y="1620000"/>
            <a:ext cx="3344040" cy="9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8000" y="1800000"/>
            <a:ext cx="312804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400" b="0">
                <a:solidFill>
                  <a:srgbClr val="2563EB"/>
                </a:solidFill>
              </a:defRPr>
            </a:pPr>
            <a:r>
              <a:t>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8000" y="2268000"/>
            <a:ext cx="31280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A1A2E"/>
                </a:solidFill>
              </a:defRPr>
            </a:pPr>
            <a:r>
              <a:t>셀프마케팅 +</a:t>
            </a:r>
            <a:br/>
            <a:r>
              <a:t>AI로직연구소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" y="2664000"/>
            <a:ext cx="3128040" cy="19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실시간 로직 모니터링과</a:t>
            </a:r>
            <a:br/>
            <a:r>
              <a:t>AI 기반 분석으로</a:t>
            </a:r>
            <a:br/>
            <a:r>
              <a:t>최적 매체를 자동 추천합니다.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4040" y="1620000"/>
            <a:ext cx="3344040" cy="306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4040" y="1620000"/>
            <a:ext cx="3344040" cy="9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2040" y="1800000"/>
            <a:ext cx="312804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400" b="0">
                <a:solidFill>
                  <a:srgbClr val="2563EB"/>
                </a:solidFill>
              </a:defRPr>
            </a:pPr>
            <a:r>
              <a:t>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2040" y="2268000"/>
            <a:ext cx="31280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A1A2E"/>
                </a:solidFill>
              </a:defRPr>
            </a:pPr>
            <a:r>
              <a:t>순위 방어 +</a:t>
            </a:r>
            <a:br/>
            <a:r>
              <a:t>상승 로직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2040" y="2664000"/>
            <a:ext cx="3128040" cy="19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패턴 감지를 회피하는</a:t>
            </a:r>
            <a:br/>
            <a:r>
              <a:t>안전한 방식으로 순위를</a:t>
            </a:r>
            <a:br/>
            <a:r>
              <a:t>방어하고 상승시킵니다.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48080" y="1620000"/>
            <a:ext cx="3344040" cy="306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48080" y="1620000"/>
            <a:ext cx="3344040" cy="9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80" y="1800000"/>
            <a:ext cx="312804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400" b="0">
                <a:solidFill>
                  <a:srgbClr val="2563EB"/>
                </a:solidFill>
              </a:defRPr>
            </a:pPr>
            <a:r>
              <a:t>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6080" y="2268000"/>
            <a:ext cx="31280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A1A2E"/>
                </a:solidFill>
              </a:defRPr>
            </a:pPr>
            <a:r>
              <a:t>안전하고</a:t>
            </a:r>
            <a:br/>
            <a:r>
              <a:t>꾸준한 상승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56080" y="2664000"/>
            <a:ext cx="3128040" cy="19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1A1A2E"/>
                </a:solidFill>
              </a:defRPr>
            </a:pPr>
            <a:r>
              <a:t>급격한 변동 없이</a:t>
            </a:r>
            <a:br/>
            <a:r>
              <a:t>안정적인 순위 상승을</a:t>
            </a:r>
            <a:br/>
            <a:r>
              <a:t>지속적으로 만들어냅니다.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00" y="5040000"/>
            <a:ext cx="103921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666666"/>
                </a:solidFill>
              </a:defRPr>
            </a:pPr>
            <a:r>
              <a:t>단순 트래픽 유입 대행에서 벗어나, 실시간 데이터 분석 기반 순위 방어 체계 구축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32119" y="6408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99999"/>
                </a:solidFill>
              </a:defRPr>
            </a:pPr>
            <a:r>
              <a:t>온다마케팅 | 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nd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119" y="180000"/>
            <a:ext cx="1440000" cy="43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0000" y="648000"/>
            <a:ext cx="1039212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마드모아젤헤어 4개 지점 현황 진단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1188000"/>
            <a:ext cx="1440000" cy="3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00000" y="1548000"/>
          <a:ext cx="1039212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2160000"/>
                <a:gridCol w="1980000"/>
                <a:gridCol w="1980000"/>
                <a:gridCol w="2112120"/>
              </a:tblGrid>
              <a:tr h="324000">
                <a:tc>
                  <a:txBody>
                    <a:bodyPr lIns="54000" rIns="54000" tIns="36000" bIns="3600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지점</a:t>
                      </a:r>
                    </a:p>
                  </a:txBody>
                  <a:tcPr anchor="ctr">
                    <a:solidFill>
                      <a:srgbClr val="1B2A4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순위 변동</a:t>
                      </a:r>
                    </a:p>
                  </a:txBody>
                  <a:tcPr anchor="ctr">
                    <a:solidFill>
                      <a:srgbClr val="1B2A4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N2 변동</a:t>
                      </a:r>
                    </a:p>
                  </a:txBody>
                  <a:tcPr anchor="ctr">
                    <a:solidFill>
                      <a:srgbClr val="1B2A4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블로그 삭제</a:t>
                      </a:r>
                    </a:p>
                  </a:txBody>
                  <a:tcPr anchor="ctr">
                    <a:solidFill>
                      <a:srgbClr val="1B2A4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저품질</a:t>
                      </a:r>
                    </a:p>
                  </a:txBody>
                  <a:tcPr anchor="ctr">
                    <a:solidFill>
                      <a:srgbClr val="1B2A4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24000"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마크원애비뉴점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1">
                          <a:solidFill>
                            <a:srgbClr val="EF4444"/>
                          </a:solidFill>
                        </a:defRPr>
                      </a:pPr>
                      <a:r>
                        <a:t>하락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-0.08 이상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해당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없음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24000"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나성1호점</a:t>
                      </a:r>
                    </a:p>
                  </a:txBody>
                  <a:tcPr anchor="ctr">
                    <a:solidFill>
                      <a:srgbClr val="F0F4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1">
                          <a:solidFill>
                            <a:srgbClr val="EF4444"/>
                          </a:solidFill>
                        </a:defRPr>
                      </a:pPr>
                      <a:r>
                        <a:t>1위→14위</a:t>
                      </a:r>
                    </a:p>
                  </a:txBody>
                  <a:tcPr anchor="ctr">
                    <a:solidFill>
                      <a:srgbClr val="F0F4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-0.08 이상</a:t>
                      </a:r>
                    </a:p>
                  </a:txBody>
                  <a:tcPr anchor="ctr">
                    <a:solidFill>
                      <a:srgbClr val="F0F4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해당</a:t>
                      </a:r>
                    </a:p>
                  </a:txBody>
                  <a:tcPr anchor="ctr">
                    <a:solidFill>
                      <a:srgbClr val="F0F4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없음</a:t>
                      </a:r>
                    </a:p>
                  </a:txBody>
                  <a:tcPr anchor="ctr">
                    <a:solidFill>
                      <a:srgbClr val="F0F4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24000"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나성2호점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1">
                          <a:solidFill>
                            <a:srgbClr val="EF4444"/>
                          </a:solidFill>
                        </a:defRPr>
                      </a:pPr>
                      <a:r>
                        <a:t>14위→21위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-0.10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해당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없음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24000"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반곡점</a:t>
                      </a:r>
                    </a:p>
                  </a:txBody>
                  <a:tcPr anchor="ctr">
                    <a:solidFill>
                      <a:srgbClr val="F0F4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1">
                          <a:solidFill>
                            <a:srgbClr val="EF4444"/>
                          </a:solidFill>
                        </a:defRPr>
                      </a:pPr>
                      <a:r>
                        <a:t>하락</a:t>
                      </a:r>
                    </a:p>
                  </a:txBody>
                  <a:tcPr anchor="ctr">
                    <a:solidFill>
                      <a:srgbClr val="F0F4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-0.08 이상</a:t>
                      </a:r>
                    </a:p>
                  </a:txBody>
                  <a:tcPr anchor="ctr">
                    <a:solidFill>
                      <a:srgbClr val="F0F4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해당</a:t>
                      </a:r>
                    </a:p>
                  </a:txBody>
                  <a:tcPr anchor="ctr">
                    <a:solidFill>
                      <a:srgbClr val="F0F4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없음</a:t>
                      </a:r>
                    </a:p>
                  </a:txBody>
                  <a:tcPr anchor="ctr">
                    <a:solidFill>
                      <a:srgbClr val="F0F4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00000" y="3420000"/>
            <a:ext cx="1039212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66666"/>
                </a:solidFill>
              </a:defRPr>
            </a:pPr>
            <a:r>
              <a:t>공통사항: N1 변동 없음. 블로그 리뷰 약 300~400건 삭제/누락.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000" y="4140000"/>
            <a:ext cx="10392120" cy="9000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l">
              <a:defRPr sz="1400" b="1">
                <a:solidFill>
                  <a:srgbClr val="1A1A2E"/>
                </a:solidFill>
              </a:defRPr>
            </a:pPr>
            <a:r>
              <a:t>✅ 종합 판단: 4개 지점 모두 저품질 상태 아님 → 회복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32119" y="6408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99999"/>
                </a:solidFill>
              </a:defRPr>
            </a:pPr>
            <a:r>
              <a:t>온다마케팅 | 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nd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119" y="180000"/>
            <a:ext cx="1440000" cy="43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0000" y="648000"/>
            <a:ext cx="1039212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Q&amp;A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1188000"/>
            <a:ext cx="1440000" cy="3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0000" y="1548000"/>
            <a:ext cx="540000" cy="54000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0000" y="1548000"/>
            <a:ext cx="96721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A1A2E"/>
                </a:solidFill>
              </a:defRPr>
            </a:pPr>
            <a:r>
              <a:t>전 지점 N2 동시 하락, 원인이 무엇입니까?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000" y="2340000"/>
            <a:ext cx="540000" cy="54000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0000" y="2340000"/>
            <a:ext cx="967212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가장 직접적인 원인은 3월 초 배포형 블로그 및 비실명 계정의</a:t>
            </a:r>
            <a:br/>
            <a:r>
              <a:t>대대적인 삭제 조치입니다. 블로그 리뷰 300~400건이 일괄 삭제되며</a:t>
            </a:r>
            <a:br/>
            <a:r>
              <a:t>N2 점수가 동반 하락했습니다.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0000" y="3960000"/>
            <a:ext cx="96721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0B981"/>
                </a:solidFill>
              </a:defRPr>
            </a:pPr>
            <a:r>
              <a:t>✓ N1(SEO) 점수 변동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4320000"/>
            <a:ext cx="96721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0B981"/>
                </a:solidFill>
              </a:defRPr>
            </a:pPr>
            <a:r>
              <a:t>✓ 4개 지점 모두 저품질 해당 없음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0000" y="4680000"/>
            <a:ext cx="96721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0B981"/>
                </a:solidFill>
              </a:defRPr>
            </a:pPr>
            <a:r>
              <a:t>✓ 정상적인 회복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32119" y="6408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99999"/>
                </a:solidFill>
              </a:defRPr>
            </a:pPr>
            <a:r>
              <a:t>온다마케팅 | 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nd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119" y="180000"/>
            <a:ext cx="1440000" cy="43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0000" y="648000"/>
            <a:ext cx="1039212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Q&amp;A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1188000"/>
            <a:ext cx="1440000" cy="3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0000" y="1548000"/>
            <a:ext cx="540000" cy="54000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0000" y="1548000"/>
            <a:ext cx="96721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A1A2E"/>
                </a:solidFill>
              </a:defRPr>
            </a:pPr>
            <a:r>
              <a:t>블로그 대량 삭제, 어떻게 상쇄합니까?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000" y="2340000"/>
            <a:ext cx="540000" cy="54000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0000" y="2340000"/>
            <a:ext cx="967212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단순 재배포는 오히려 독입니다.</a:t>
            </a:r>
            <a:br/>
            <a:r>
              <a:t>현재는 2주 단위, 빠르면 1주 단위로 내부 가중치가 변동되고 있습니다.</a:t>
            </a:r>
            <a:br/>
            <a:br/>
            <a:r>
              <a:t>CLOVA AI 도입 이후 유입 경로, fingerprint 유사성,</a:t>
            </a:r>
            <a:br/>
            <a:r>
              <a:t>패턴이 있는 방식의 작업은 효율이 급락하고</a:t>
            </a:r>
            <a:br/>
            <a:r>
              <a:t>순위 하락으로 이어지고 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000" y="4320000"/>
            <a:ext cx="10392120" cy="9000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l">
              <a:defRPr sz="1300" b="1">
                <a:solidFill>
                  <a:srgbClr val="1A1A2E"/>
                </a:solidFill>
              </a:defRPr>
            </a:pPr>
            <a:r>
              <a:t>6장에 첨부한 당사 관리 업체의 실제 데이터를 통해 확인 가능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32119" y="6408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99999"/>
                </a:solidFill>
              </a:defRPr>
            </a:pPr>
            <a:r>
              <a:t>온다마케팅 | 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nd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119" y="180000"/>
            <a:ext cx="1440000" cy="43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0000" y="648000"/>
            <a:ext cx="1039212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Q&amp;A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1188000"/>
            <a:ext cx="1440000" cy="3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0000" y="1548000"/>
            <a:ext cx="540000" cy="54000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0000" y="1548000"/>
            <a:ext cx="96721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A1A2E"/>
                </a:solidFill>
              </a:defRPr>
            </a:pPr>
            <a:r>
              <a:t>급락 지점의 1단계 회복 플랜은?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000" y="2340000"/>
            <a:ext cx="540000" cy="54000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0000" y="2340000"/>
            <a:ext cx="967212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패턴이 드러날 수밖에 없는 단순 트래픽 작업은</a:t>
            </a:r>
            <a:br/>
            <a:r>
              <a:t>동일한 리스크를 반복하게 됩니다.</a:t>
            </a:r>
            <a:br/>
            <a:br/>
            <a:r>
              <a:t>그러나 경쟁사 전부가 트래픽을 넣고 있는 상황에서</a:t>
            </a:r>
            <a:br/>
            <a:r>
              <a:t>트래픽 없는 순위 상승 역시 불가능합니다.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0000" y="3780000"/>
            <a:ext cx="96721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563EB"/>
                </a:solidFill>
              </a:defRPr>
            </a:pPr>
            <a:r>
              <a:t>핵심: 패턴화되지 않는 작업, AI가 감지할 수 없는 방식으로 트래픽 설계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000" y="4500000"/>
            <a:ext cx="10392120" cy="900000"/>
          </a:xfrm>
          <a:prstGeom prst="roundRect">
            <a:avLst>
              <a:gd name="adj" fmla="val 5000"/>
            </a:avLst>
          </a:prstGeom>
          <a:solidFill>
            <a:srgbClr val="FEF9F0"/>
          </a:solidFill>
          <a:ln w="19050">
            <a:solidFill>
              <a:srgbClr val="D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l">
              <a:defRPr sz="1400" b="1">
                <a:solidFill>
                  <a:srgbClr val="1A1A2E"/>
                </a:solidFill>
              </a:defRPr>
            </a:pPr>
            <a:r>
              <a:t>안정적인 작업 속도를 유지하면서, 회복과 방어를 동시에 진행하겠습니다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32119" y="6408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99999"/>
                </a:solidFill>
              </a:defRPr>
            </a:pPr>
            <a:r>
              <a:t>온다마케팅 | 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648000"/>
            <a:ext cx="1039212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</a:defRPr>
            </a:pPr>
            <a:r>
              <a:t>순위 상승 로직 운용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188000"/>
            <a:ext cx="103921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D4A853"/>
                </a:solidFill>
              </a:defRPr>
            </a:pPr>
            <a:r>
              <a:t>안정적으로 순위 상승을 이끌어내는 로직을 운용 중입니다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620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정형외과 키워드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08000"/>
            <a:ext cx="48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D4A853"/>
                </a:solidFill>
              </a:defRPr>
            </a:pPr>
            <a:r>
              <a:t>8위 → 2위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592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N2 0.4816 (상승세)</a:t>
            </a:r>
          </a:p>
        </p:txBody>
      </p:sp>
      <p:sp>
        <p:nvSpPr>
          <p:cNvPr id="8" name="Rectangle 7"/>
          <p:cNvSpPr/>
          <p:nvPr/>
        </p:nvSpPr>
        <p:spPr>
          <a:xfrm>
            <a:off x="900000" y="3060000"/>
            <a:ext cx="4320000" cy="252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defRPr sz="1100">
                <a:solidFill>
                  <a:srgbClr val="9CA3AF"/>
                </a:solidFill>
              </a:defRPr>
            </a:pPr>
            <a:r>
              <a:t>순위 변화 그래프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2120" y="1620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피부과 키워드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2120" y="1908000"/>
            <a:ext cx="48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D4A853"/>
                </a:solidFill>
              </a:defRPr>
            </a:pPr>
            <a:r>
              <a:t>1위 유지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2120" y="2592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N2 0.5189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32120" y="3060000"/>
            <a:ext cx="4320000" cy="252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defRPr sz="1100">
                <a:solidFill>
                  <a:srgbClr val="9CA3AF"/>
                </a:solidFill>
              </a:defRPr>
            </a:pPr>
            <a:r>
              <a:t>순위 변화 그래프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32119" y="6408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99999"/>
                </a:solidFill>
              </a:defRPr>
            </a:pPr>
            <a:r>
              <a:t>온다마케팅 | 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nd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119" y="180000"/>
            <a:ext cx="1440000" cy="43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0000" y="648000"/>
            <a:ext cx="1039212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3월 블로그 삭제 이후 회복 사례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1188000"/>
            <a:ext cx="1440000" cy="3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0000" y="1548000"/>
            <a:ext cx="3344040" cy="4140000"/>
          </a:xfrm>
          <a:prstGeom prst="roundRect">
            <a:avLst>
              <a:gd name="adj" fmla="val 3000"/>
            </a:avLst>
          </a:prstGeom>
          <a:solidFill>
            <a:srgbClr val="F8F9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000" y="1692000"/>
            <a:ext cx="312804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A1A2E"/>
                </a:solidFill>
              </a:defRPr>
            </a:pPr>
            <a:r>
              <a:t>부산피부과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000" y="2016000"/>
            <a:ext cx="312804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2563EB"/>
                </a:solidFill>
              </a:defRPr>
            </a:pPr>
            <a:r>
              <a:t>14위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8000" y="2484000"/>
            <a:ext cx="312804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1A1A2E"/>
                </a:solidFill>
              </a:defRPr>
            </a:pPr>
            <a:r>
              <a:t>N2 0.4959 (회복 중)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" y="2808000"/>
            <a:ext cx="312804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666666"/>
                </a:solidFill>
              </a:defRPr>
            </a:pPr>
            <a:r>
              <a:t>블로그 6,121건 | 리뷰 2,588건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0000" y="3276000"/>
            <a:ext cx="2984040" cy="216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defRPr sz="1100">
                <a:solidFill>
                  <a:srgbClr val="9CA3AF"/>
                </a:solidFill>
              </a:defRPr>
            </a:pPr>
            <a:r>
              <a:t>사례 C 스크린샷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4040" y="1548000"/>
            <a:ext cx="3344040" cy="4140000"/>
          </a:xfrm>
          <a:prstGeom prst="roundRect">
            <a:avLst>
              <a:gd name="adj" fmla="val 3000"/>
            </a:avLst>
          </a:prstGeom>
          <a:solidFill>
            <a:srgbClr val="F8F9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2040" y="1692000"/>
            <a:ext cx="312804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A1A2E"/>
                </a:solidFill>
              </a:defRPr>
            </a:pPr>
            <a:r>
              <a:t>대구성형외과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2040" y="2016000"/>
            <a:ext cx="312804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2563EB"/>
                </a:solidFill>
              </a:defRPr>
            </a:pPr>
            <a:r>
              <a:t>14위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2040" y="2484000"/>
            <a:ext cx="312804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1A1A2E"/>
                </a:solidFill>
              </a:defRPr>
            </a:pPr>
            <a:r>
              <a:t>N2 0.4148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2040" y="2808000"/>
            <a:ext cx="312804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666666"/>
                </a:solidFill>
              </a:defRPr>
            </a:pPr>
            <a:r>
              <a:t>블로그 330건 | 리뷰 726건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04040" y="3276000"/>
            <a:ext cx="2984040" cy="216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defRPr sz="1100">
                <a:solidFill>
                  <a:srgbClr val="9CA3AF"/>
                </a:solidFill>
              </a:defRPr>
            </a:pPr>
            <a:r>
              <a:t>사례 D 스크린샷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48080" y="1548000"/>
            <a:ext cx="3344040" cy="4140000"/>
          </a:xfrm>
          <a:prstGeom prst="roundRect">
            <a:avLst>
              <a:gd name="adj" fmla="val 3000"/>
            </a:avLst>
          </a:prstGeom>
          <a:solidFill>
            <a:srgbClr val="F8F9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56080" y="1692000"/>
            <a:ext cx="312804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A1A2E"/>
                </a:solidFill>
              </a:defRPr>
            </a:pPr>
            <a:r>
              <a:t>신림성형외과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56080" y="2016000"/>
            <a:ext cx="312804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2563EB"/>
                </a:solidFill>
              </a:defRPr>
            </a:pPr>
            <a:r>
              <a:t>3위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6080" y="2484000"/>
            <a:ext cx="312804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1A1A2E"/>
                </a:solidFill>
              </a:defRPr>
            </a:pPr>
            <a:r>
              <a:t>N2 0.4371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6080" y="2808000"/>
            <a:ext cx="312804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666666"/>
                </a:solidFill>
              </a:defRPr>
            </a:pPr>
            <a:r>
              <a:t>블로그 627건 | 리뷰 363건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28080" y="3276000"/>
            <a:ext cx="2984040" cy="216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defRPr sz="1100">
                <a:solidFill>
                  <a:srgbClr val="9CA3AF"/>
                </a:solidFill>
              </a:defRPr>
            </a:pPr>
            <a:r>
              <a:t>사례 E 스크린샷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32119" y="6408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99999"/>
                </a:solidFill>
              </a:defRPr>
            </a:pPr>
            <a:r>
              <a:t>온다마케팅 | 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nd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119" y="180000"/>
            <a:ext cx="1440000" cy="43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0000" y="648000"/>
            <a:ext cx="1039212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미용실 업종 레퍼런스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1188000"/>
            <a:ext cx="1440000" cy="3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260000"/>
            <a:ext cx="103921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66666"/>
                </a:solidFill>
              </a:defRPr>
            </a:pPr>
            <a:r>
              <a:t>귀사와 동일한 업종에서의 실제 운영 실적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000" y="1800000"/>
            <a:ext cx="4860000" cy="324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" y="1944000"/>
            <a:ext cx="45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>
                <a:solidFill>
                  <a:srgbClr val="2563EB"/>
                </a:solidFill>
              </a:defRPr>
            </a:pPr>
            <a:r>
              <a:t>15위 → 2위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20000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1A1A2E"/>
                </a:solidFill>
              </a:defRPr>
            </a:pPr>
            <a:r>
              <a:t>1주 만에 13계단 상승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" y="2807999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666666"/>
                </a:solidFill>
              </a:defRPr>
            </a:pPr>
            <a:r>
              <a:t>N2 0.4541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0000" y="3240000"/>
            <a:ext cx="4500000" cy="162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defRPr sz="1100">
                <a:solidFill>
                  <a:srgbClr val="9CA3AF"/>
                </a:solidFill>
              </a:defRPr>
            </a:pPr>
            <a:r>
              <a:t>사례 F 스크린샷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32120" y="1800000"/>
            <a:ext cx="4860000" cy="324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2120" y="1944000"/>
            <a:ext cx="45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>
                <a:solidFill>
                  <a:srgbClr val="2563EB"/>
                </a:solidFill>
              </a:defRPr>
            </a:pPr>
            <a:r>
              <a:t>81위 → 40위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2120" y="2520000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1A1A2E"/>
                </a:solidFill>
              </a:defRPr>
            </a:pPr>
            <a:r>
              <a:t>2주간 41계단 상승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2120" y="2807999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666666"/>
                </a:solidFill>
              </a:defRPr>
            </a:pPr>
            <a:r>
              <a:t>N2 0.4460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12120" y="3240000"/>
            <a:ext cx="4500000" cy="162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defRPr sz="1100">
                <a:solidFill>
                  <a:srgbClr val="9CA3AF"/>
                </a:solidFill>
              </a:defRPr>
            </a:pPr>
            <a:r>
              <a:t>사례 G 스크린샷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000" y="5328000"/>
            <a:ext cx="10392120" cy="7200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l">
              <a:defRPr sz="1200" b="1">
                <a:solidFill>
                  <a:srgbClr val="1A1A2E"/>
                </a:solidFill>
              </a:defRPr>
            </a:pPr>
            <a:r>
              <a:t>7건 사례 종합: 순위 상승 로직 보유(A,B,F,G) + 회복 실적(C,D,E) + 미용실 성과(F,G)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32119" y="6408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99999"/>
                </a:solidFill>
              </a:defRPr>
            </a:pPr>
            <a:r>
              <a:t>온다마케팅 | 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nd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119" y="180000"/>
            <a:ext cx="1440000" cy="43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0000" y="648000"/>
            <a:ext cx="1039212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메인 키워드 하나면 충분합니다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1188000"/>
            <a:ext cx="1440000" cy="3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440000"/>
            <a:ext cx="103921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66666"/>
                </a:solidFill>
              </a:defRPr>
            </a:pPr>
            <a:r>
              <a:t>플레이스 마케팅은 '키워드'를 올리는 작업이 아니라</a:t>
            </a:r>
            <a:br/>
            <a:r>
              <a:t>플레이스 자체의 점수를 올리는 작업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000" y="2340000"/>
            <a:ext cx="4860000" cy="1260000"/>
          </a:xfrm>
          <a:prstGeom prst="roundRect">
            <a:avLst>
              <a:gd name="adj" fmla="val 3000"/>
            </a:avLst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" y="2448000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나성동미용실 (3,980건)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808000"/>
            <a:ext cx="45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10B981"/>
                </a:solidFill>
              </a:defRPr>
            </a:pPr>
            <a:r>
              <a:t>8위 → 6위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32120" y="2340000"/>
            <a:ext cx="4860000" cy="1260000"/>
          </a:xfrm>
          <a:prstGeom prst="roundRect">
            <a:avLst>
              <a:gd name="adj" fmla="val 3000"/>
            </a:avLst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2120" y="2448000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1A1A2E"/>
                </a:solidFill>
              </a:defRPr>
            </a:pPr>
            <a:r>
              <a:t>세종미용실 (9,170건)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2120" y="2808000"/>
            <a:ext cx="45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10B981"/>
                </a:solidFill>
              </a:defRPr>
            </a:pPr>
            <a:r>
              <a:t>16위 → 13위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000" y="3960000"/>
            <a:ext cx="10392120" cy="162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defRPr sz="1100">
                <a:solidFill>
                  <a:srgbClr val="9CA3AF"/>
                </a:solidFill>
              </a:defRPr>
            </a:pPr>
            <a:r>
              <a:t>낙수효과 순위 변동 스크린샷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0" y="5760000"/>
            <a:ext cx="1039212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999999"/>
                </a:solidFill>
              </a:defRPr>
            </a:pPr>
            <a:r>
              <a:t>연관도 낮은 키워드(다정동/새롬동)에서 순위가 낮은 것은 업체 소재지 연관도 차이이며 정상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32119" y="6408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99999"/>
                </a:solidFill>
              </a:defRPr>
            </a:pPr>
            <a:r>
              <a:t>온다마케팅 | 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648000"/>
            <a:ext cx="1039212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</a:defRPr>
            </a:pPr>
            <a:r>
              <a:t>제안 서비스: 안전보장형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188000"/>
            <a:ext cx="103921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D4A853"/>
                </a:solidFill>
              </a:defRPr>
            </a:pPr>
            <a:r>
              <a:t>관리형과 순위보장형의 중간 형태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00000" y="1800000"/>
          <a:ext cx="1039212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6792120"/>
              </a:tblGrid>
              <a:tr h="324000">
                <a:tc>
                  <a:txBody>
                    <a:bodyPr lIns="54000" rIns="54000" tIns="36000" bIns="36000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내부 로직 항목</a:t>
                      </a:r>
                    </a:p>
                  </a:txBody>
                  <a:tcPr anchor="ctr">
                    <a:solidFill>
                      <a:srgbClr val="D4A853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세부 내용</a:t>
                      </a:r>
                    </a:p>
                  </a:txBody>
                  <a:tcPr anchor="ctr">
                    <a:solidFill>
                      <a:srgbClr val="D4A853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24000">
                <a:tc>
                  <a:txBody>
                    <a:bodyPr lIns="54000" rIns="54000" tIns="36000" bIns="3600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키워드 세분화</a:t>
                      </a:r>
                    </a:p>
                  </a:txBody>
                  <a:tcPr anchor="ctr">
                    <a:solidFill>
                      <a:srgbClr val="24365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10유입 단위로 분할하여 패턴 감지 회피</a:t>
                      </a:r>
                    </a:p>
                  </a:txBody>
                  <a:tcPr anchor="ctr">
                    <a:solidFill>
                      <a:srgbClr val="24365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24000">
                <a:tc>
                  <a:txBody>
                    <a:bodyPr lIns="54000" rIns="54000" tIns="36000" bIns="3600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유입경로 다양화</a:t>
                      </a:r>
                    </a:p>
                  </a:txBody>
                  <a:tcPr anchor="ctr">
                    <a:solidFill>
                      <a:srgbClr val="1F305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매일 다른 키워드를 세팅하여 유입 경로 다변화</a:t>
                      </a:r>
                    </a:p>
                  </a:txBody>
                  <a:tcPr anchor="ctr">
                    <a:solidFill>
                      <a:srgbClr val="1F305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24000">
                <a:tc>
                  <a:txBody>
                    <a:bodyPr lIns="54000" rIns="54000" tIns="36000" bIns="3600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매체·미션 다양화</a:t>
                      </a:r>
                    </a:p>
                  </a:txBody>
                  <a:tcPr anchor="ctr">
                    <a:solidFill>
                      <a:srgbClr val="24365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단일 매체/미션 반복 지양, 다양한 조합 운영</a:t>
                      </a:r>
                    </a:p>
                  </a:txBody>
                  <a:tcPr anchor="ctr">
                    <a:solidFill>
                      <a:srgbClr val="24365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00000" y="3600000"/>
            <a:ext cx="103921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0AEC0"/>
                </a:solidFill>
              </a:defRPr>
            </a:pPr>
            <a:r>
              <a:t>위 항목은 내부 로직의 일부 예시이며, 실제 적용 범위는 이보다 넓습니다.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2119" y="6408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99999"/>
                </a:solidFill>
              </a:defRPr>
            </a:pPr>
            <a:r>
              <a:t>온다마케팅 | 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nd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119" y="180000"/>
            <a:ext cx="1440000" cy="43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0000" y="1980000"/>
            <a:ext cx="1039212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0">
                <a:solidFill>
                  <a:srgbClr val="1A1A2E"/>
                </a:solidFill>
              </a:defRPr>
            </a:pPr>
            <a:r>
              <a:t>다른 업체들의 순위가 일제히 떨어질 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520000"/>
            <a:ext cx="103921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1A1A2E"/>
                </a:solidFill>
              </a:defRPr>
            </a:pPr>
            <a:r>
              <a:t>귀사의 순위를 지킬 수 있는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3168000"/>
            <a:ext cx="1039212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1">
                <a:solidFill>
                  <a:srgbClr val="2563EB"/>
                </a:solidFill>
              </a:defRPr>
            </a:pPr>
            <a:r>
              <a:t>가장 확실한 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5196059" y="3960000"/>
            <a:ext cx="1800000" cy="288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4320000"/>
            <a:ext cx="103921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1A1A2E"/>
                </a:solidFill>
              </a:defRPr>
            </a:pPr>
            <a:r>
              <a:t>안정적으로 유지되는 순위가 실질적인 매출을 만듭니다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32119" y="6408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99999"/>
                </a:solidFill>
              </a:defRPr>
            </a:pPr>
            <a:r>
              <a:t>온다마케팅 | 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nd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119" y="180000"/>
            <a:ext cx="1440000" cy="43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0000" y="648000"/>
            <a:ext cx="1039212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셀프마케팅 + AI로직연구소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1188000"/>
            <a:ext cx="1440000" cy="3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260000"/>
            <a:ext cx="103921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66666"/>
                </a:solidFill>
              </a:defRPr>
            </a:pPr>
            <a:r>
              <a:t>출시 예정 | 귀사도 바로 사용 가능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00000" y="1800000"/>
          <a:ext cx="6480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4320000"/>
              </a:tblGrid>
              <a:tr h="324000">
                <a:tc>
                  <a:txBody>
                    <a:bodyPr lIns="54000" rIns="54000" tIns="36000" bIns="3600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기능</a:t>
                      </a:r>
                    </a:p>
                  </a:txBody>
                  <a:tcPr anchor="ctr">
                    <a:solidFill>
                      <a:srgbClr val="1B2A4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 anchor="ctr">
                    <a:solidFill>
                      <a:srgbClr val="1B2A4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24000"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실시간 로직 모니터링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경쟁사/동종업계 순위 및 추세를 3.5일 간격으로 감지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24000"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맞춤 매체 추천</a:t>
                      </a:r>
                    </a:p>
                  </a:txBody>
                  <a:tcPr anchor="ctr">
                    <a:solidFill>
                      <a:srgbClr val="F0F4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현재 가장 안전하고 효율 좋은 트래픽 매체 안내</a:t>
                      </a:r>
                    </a:p>
                  </a:txBody>
                  <a:tcPr anchor="ctr">
                    <a:solidFill>
                      <a:srgbClr val="F0F4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24000"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자동 등록 및 전환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충전 시 자동으로 매체 등록 및 전환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40000" y="1800000"/>
            <a:ext cx="3552120" cy="288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/>
          <a:lstStyle/>
          <a:p>
            <a:pPr algn="ctr">
              <a:defRPr sz="1100">
                <a:solidFill>
                  <a:srgbClr val="9CA3AF"/>
                </a:solidFill>
              </a:defRPr>
            </a:pPr>
            <a:r>
              <a:t>솔루션 화면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32119" y="6408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99999"/>
                </a:solidFill>
              </a:defRPr>
            </a:pPr>
            <a:r>
              <a:t>온다마케팅 | 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nd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119" y="180000"/>
            <a:ext cx="1440000" cy="43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0000" y="648000"/>
            <a:ext cx="1039212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견적 안내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1188000"/>
            <a:ext cx="1440000" cy="3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00000" y="1548000"/>
          <a:ext cx="10392120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440000"/>
                <a:gridCol w="2160000"/>
                <a:gridCol w="2340000"/>
                <a:gridCol w="2472120"/>
              </a:tblGrid>
              <a:tr h="324000">
                <a:tc>
                  <a:txBody>
                    <a:bodyPr lIns="54000" rIns="54000" tIns="36000" bIns="3600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지점</a:t>
                      </a:r>
                    </a:p>
                  </a:txBody>
                  <a:tcPr anchor="ctr">
                    <a:solidFill>
                      <a:srgbClr val="1B2A4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현재순위</a:t>
                      </a:r>
                    </a:p>
                  </a:txBody>
                  <a:tcPr anchor="ctr">
                    <a:solidFill>
                      <a:srgbClr val="1B2A4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보장형(첫달)</a:t>
                      </a:r>
                    </a:p>
                  </a:txBody>
                  <a:tcPr anchor="ctr">
                    <a:solidFill>
                      <a:srgbClr val="1B2A4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보장형(2개월~)</a:t>
                      </a:r>
                    </a:p>
                  </a:txBody>
                  <a:tcPr anchor="ctr">
                    <a:solidFill>
                      <a:srgbClr val="1B2A4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안전보장형(권장)</a:t>
                      </a:r>
                    </a:p>
                  </a:txBody>
                  <a:tcPr anchor="ctr">
                    <a:solidFill>
                      <a:srgbClr val="1B2A4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24000"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마크원애비뉴점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13위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1,800,000원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1,200,000원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</a:defRPr>
                      </a:pPr>
                      <a:r>
                        <a:t>900,000원</a:t>
                      </a:r>
                    </a:p>
                  </a:txBody>
                  <a:tcPr anchor="ctr">
                    <a:solidFill>
                      <a:srgbClr val="D4A853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24000"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나성1호점</a:t>
                      </a:r>
                    </a:p>
                  </a:txBody>
                  <a:tcPr anchor="ctr">
                    <a:solidFill>
                      <a:srgbClr val="F0F4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15위</a:t>
                      </a:r>
                    </a:p>
                  </a:txBody>
                  <a:tcPr anchor="ctr">
                    <a:solidFill>
                      <a:srgbClr val="F0F4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1,900,000원</a:t>
                      </a:r>
                    </a:p>
                  </a:txBody>
                  <a:tcPr anchor="ctr">
                    <a:solidFill>
                      <a:srgbClr val="F0F4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1,200,000원</a:t>
                      </a:r>
                    </a:p>
                  </a:txBody>
                  <a:tcPr anchor="ctr">
                    <a:solidFill>
                      <a:srgbClr val="F0F4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</a:defRPr>
                      </a:pPr>
                      <a:r>
                        <a:t>900,000원</a:t>
                      </a:r>
                    </a:p>
                  </a:txBody>
                  <a:tcPr anchor="ctr">
                    <a:solidFill>
                      <a:srgbClr val="D4A853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24000"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나성2호점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20위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2,100,000원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1,200,000원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</a:defRPr>
                      </a:pPr>
                      <a:r>
                        <a:t>900,000원</a:t>
                      </a:r>
                    </a:p>
                  </a:txBody>
                  <a:tcPr anchor="ctr">
                    <a:solidFill>
                      <a:srgbClr val="D4A853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24000"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반곡점</a:t>
                      </a:r>
                    </a:p>
                  </a:txBody>
                  <a:tcPr anchor="ctr">
                    <a:solidFill>
                      <a:srgbClr val="F0F4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21위</a:t>
                      </a:r>
                    </a:p>
                  </a:txBody>
                  <a:tcPr anchor="ctr">
                    <a:solidFill>
                      <a:srgbClr val="F0F4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2,200,000원</a:t>
                      </a:r>
                    </a:p>
                  </a:txBody>
                  <a:tcPr anchor="ctr">
                    <a:solidFill>
                      <a:srgbClr val="F0F4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1,200,000원</a:t>
                      </a:r>
                    </a:p>
                  </a:txBody>
                  <a:tcPr anchor="ctr">
                    <a:solidFill>
                      <a:srgbClr val="F0F4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</a:defRPr>
                      </a:pPr>
                      <a:r>
                        <a:t>900,000원</a:t>
                      </a:r>
                    </a:p>
                  </a:txBody>
                  <a:tcPr anchor="ctr">
                    <a:solidFill>
                      <a:srgbClr val="D4A853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24000">
                <a:tc>
                  <a:txBody>
                    <a:bodyPr lIns="54000" rIns="54000" tIns="36000" bIns="3600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4지점 합계</a:t>
                      </a:r>
                    </a:p>
                  </a:txBody>
                  <a:tcPr anchor="ctr">
                    <a:solidFill>
                      <a:srgbClr val="1B2A4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B2A4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8,000,000원</a:t>
                      </a:r>
                    </a:p>
                  </a:txBody>
                  <a:tcPr anchor="ctr">
                    <a:solidFill>
                      <a:srgbClr val="1B2A4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4,800,000원</a:t>
                      </a:r>
                    </a:p>
                  </a:txBody>
                  <a:tcPr anchor="ctr">
                    <a:solidFill>
                      <a:srgbClr val="1B2A4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3,600,000원</a:t>
                      </a:r>
                    </a:p>
                  </a:txBody>
                  <a:tcPr anchor="ctr">
                    <a:solidFill>
                      <a:srgbClr val="1B2A4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00000" y="4140000"/>
            <a:ext cx="1039212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66666"/>
                </a:solidFill>
              </a:defRPr>
            </a:pPr>
            <a:r>
              <a:t>4개 지점 동시 진행 시 지점당 900,000원 (개별 1,000,000원)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2119" y="6408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99999"/>
                </a:solidFill>
              </a:defRPr>
            </a:pPr>
            <a:r>
              <a:t>온다마케팅 | 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nd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119" y="180000"/>
            <a:ext cx="1440000" cy="43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0000" y="648000"/>
            <a:ext cx="1039212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운영 조건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1188000"/>
            <a:ext cx="1440000" cy="3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00000" y="1548000"/>
          <a:ext cx="1039212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3960000"/>
                <a:gridCol w="4272120"/>
              </a:tblGrid>
              <a:tr h="324000">
                <a:tc>
                  <a:txBody>
                    <a:bodyPr lIns="54000" rIns="54000" tIns="36000" bIns="3600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 anchor="ctr">
                    <a:solidFill>
                      <a:srgbClr val="1B2A4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보장형</a:t>
                      </a:r>
                    </a:p>
                  </a:txBody>
                  <a:tcPr anchor="ctr">
                    <a:solidFill>
                      <a:srgbClr val="1B2A4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안전보장형(권장)</a:t>
                      </a:r>
                    </a:p>
                  </a:txBody>
                  <a:tcPr anchor="ctr">
                    <a:solidFill>
                      <a:srgbClr val="1B2A4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24000"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작업 방식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공격적 트래픽 투입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내부 로직 중심 안정적 관리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24000"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순위 상승 속도</a:t>
                      </a:r>
                    </a:p>
                  </a:txBody>
                  <a:tcPr anchor="ctr">
                    <a:solidFill>
                      <a:srgbClr val="F0F4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빠름</a:t>
                      </a:r>
                    </a:p>
                  </a:txBody>
                  <a:tcPr anchor="ctr">
                    <a:solidFill>
                      <a:srgbClr val="F0F4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점진적 / 안정적</a:t>
                      </a:r>
                    </a:p>
                  </a:txBody>
                  <a:tcPr anchor="ctr">
                    <a:solidFill>
                      <a:srgbClr val="F0F4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24000"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하락 리스크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1">
                          <a:solidFill>
                            <a:srgbClr val="EF4444"/>
                          </a:solidFill>
                        </a:defRPr>
                      </a:pPr>
                      <a:r>
                        <a:t>높음 (로직 변경 시 급락)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낮음 (패턴 감지 회피)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24000"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결제 방식</a:t>
                      </a:r>
                    </a:p>
                  </a:txBody>
                  <a:tcPr anchor="ctr">
                    <a:solidFill>
                      <a:srgbClr val="F0F4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노출 후 결제</a:t>
                      </a:r>
                    </a:p>
                  </a:txBody>
                  <a:tcPr anchor="ctr">
                    <a:solidFill>
                      <a:srgbClr val="F0F4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월 관리비</a:t>
                      </a:r>
                    </a:p>
                  </a:txBody>
                  <a:tcPr anchor="ctr">
                    <a:solidFill>
                      <a:srgbClr val="F0F4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24000"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최소 계약 기간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없음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없음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24000"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리포팅 주기</a:t>
                      </a:r>
                    </a:p>
                  </a:txBody>
                  <a:tcPr anchor="ctr">
                    <a:solidFill>
                      <a:srgbClr val="F0F4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1주일</a:t>
                      </a:r>
                    </a:p>
                  </a:txBody>
                  <a:tcPr anchor="ctr">
                    <a:solidFill>
                      <a:srgbClr val="F0F4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1주일 (대시보드 상시 확인)</a:t>
                      </a:r>
                    </a:p>
                  </a:txBody>
                  <a:tcPr anchor="ctr">
                    <a:solidFill>
                      <a:srgbClr val="F0F4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24000"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월 비용 (4지점)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첫달 800만 / 유지 480만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lIns="54000" rIns="54000" tIns="36000" bIns="36000"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360만원 (균일)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00000" y="4860000"/>
            <a:ext cx="10392120" cy="9000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08000" bIns="108000"/>
          <a:lstStyle/>
          <a:p>
            <a:pPr algn="l">
              <a:defRPr sz="1300" b="1">
                <a:solidFill>
                  <a:srgbClr val="1A1A2E"/>
                </a:solidFill>
              </a:defRPr>
            </a:pPr>
            <a:r>
              <a:t>온다마케팅은 안전보장형을 권장드립니다.</a:t>
            </a:r>
            <a:br/>
            <a:r>
              <a:t>어떤 방식을 선택하시더라도 최선의 결과를 만들겠습니다.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2119" y="6408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999999"/>
                </a:solidFill>
              </a:defRPr>
            </a:pPr>
            <a:r>
              <a:t>온다마케팅 | 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432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nd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059" y="1440000"/>
            <a:ext cx="3600000" cy="10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0000" y="3060000"/>
            <a:ext cx="1039212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4000" b="1">
                <a:solidFill>
                  <a:srgbClr val="FFFFFF"/>
                </a:solidFill>
              </a:defRPr>
            </a:pPr>
            <a:r>
              <a:t>감사합니다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196059" y="3960000"/>
            <a:ext cx="1800000" cy="288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4320000"/>
            <a:ext cx="1039212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D4A853"/>
                </a:solidFill>
              </a:defRPr>
            </a:pPr>
            <a:r>
              <a:t>어떤 방식을 선택하시더라도 최선의 결과를 만들겠습니다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5040000"/>
            <a:ext cx="103921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온다마케팅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