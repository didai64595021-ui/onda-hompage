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D4A853"/>
                </a:solidFill>
                <a:latin typeface="맑은 고딕"/>
              </a:defRPr>
            </a:pPr>
            <a:r>
              <a:t>네이버 종합광고 실행사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마드모아젤헤어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1">
                <a:solidFill>
                  <a:srgbClr val="D4A853"/>
                </a:solidFill>
                <a:latin typeface="맑은 고딕"/>
              </a:defRPr>
            </a:pPr>
            <a:r>
              <a:t>플레이스 순위 회복 및 방어 전략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A0AEC9"/>
                </a:solidFill>
                <a:latin typeface="맑은 고딕"/>
              </a:defRPr>
            </a:pPr>
            <a:r>
              <a:t>세종시 4개 지점 통합 진단  |  안전보장형 운영 제안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029200"/>
            <a:ext cx="2743200" cy="127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090B0"/>
                </a:solidFill>
                <a:latin typeface="맑은 고딕"/>
              </a:defRPr>
            </a:pPr>
            <a:r>
              <a:t>온다마케팅  |  2026.03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1B2A4A"/>
                </a:solidFill>
                <a:latin typeface="맑은 고딕"/>
              </a:defRPr>
            </a:pPr>
            <a:r>
              <a:t>인사말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안녕하세요, 온다마케팅입니다.</a:t>
            </a:r>
            <a:br/>
            <a:br/>
            <a:r>
              <a:t>저희는 네이버 플레이스, 인스타그램, 블로그 등 온라인 채널 통합 운영을 전문으로 하는</a:t>
            </a:r>
            <a:br/>
            <a:r>
              <a:t>종합광고 실행사입니다.</a:t>
            </a:r>
            <a:br/>
            <a:br/>
            <a:r>
              <a:t>단순한 대행이 아닌, 데이터 기반의 전략 설계와 실행력으로</a:t>
            </a:r>
            <a:br/>
            <a:r>
              <a:t>광고주의 실질적인 매출 성장을 함께 만들어가고 있습니다.</a:t>
            </a:r>
            <a:br/>
            <a:br/>
            <a:r>
              <a:t>마드모아젤헤어 대표님께 감사드리며,</a:t>
            </a:r>
            <a:br/>
            <a:r>
              <a:t>본 제안서가 귀사의 성장에 도움이 되기를 바랍니다.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846320"/>
            <a:ext cx="10058400" cy="914400"/>
          </a:xfrm>
          <a:prstGeom prst="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본 제안서는 귀사의 현재 플레이스 현황에 대한 진단과 함께,</a:t>
            </a:r>
            <a:br/>
            <a:r>
              <a:t>2026년 변화된 알고리즘 환경에 맞는 대응 전략을 담고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2026년, 플레이스 마케팅의 규칙이 바뀌었습니다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554480"/>
            <a:ext cx="4754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  과거 (2025년 이전)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475488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과거 (2025년 이전)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1031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▸  트래픽 양 = 순위 (단순 공식)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06039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▸  3~6개월 단위 로직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▸  배포형 블로그로 손쉽게 점수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▸  공격적 운영 = 빠른 성과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5603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2563E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475488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002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현재 (2026년 이후)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1031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맑은 고딕"/>
              </a:defRPr>
            </a:pPr>
            <a:r>
              <a:t>▸  패턴 감지 → 즉시 제재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606039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맑은 고딕"/>
              </a:defRPr>
            </a:pPr>
            <a:r>
              <a:t>▸  1~2주 단위 가중치 급변동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089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맑은 고딕"/>
              </a:defRPr>
            </a:pPr>
            <a:r>
              <a:t>▸  블로그 대량 삭제 + 순위 급락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맑은 고딕"/>
              </a:defRPr>
            </a:pPr>
            <a:r>
              <a:t>▸  공격적 운영 = 공격적 하락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4937760"/>
            <a:ext cx="10058400" cy="731520"/>
          </a:xfrm>
          <a:prstGeom prst="rect">
            <a:avLst/>
          </a:prstGeom>
          <a:solidFill>
            <a:srgbClr val="FFFAEB"/>
          </a:solidFill>
          <a:ln w="2540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07492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B2A4A"/>
                </a:solidFill>
                <a:latin typeface="맑은 고딕"/>
              </a:defRPr>
            </a:pPr>
            <a:r>
              <a:t>핵심:  순위를 '올리는 것'보다, '지키는 것'이 더 어렵고 더 중요한 시대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B2A4A"/>
                </a:solidFill>
                <a:latin typeface="맑은 고딕"/>
              </a:defRPr>
            </a:pPr>
            <a:r>
              <a:t>데이터 기반 순위 방어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645920"/>
            <a:ext cx="30175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23160" y="2011680"/>
            <a:ext cx="914400" cy="914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2148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맑은 고딕"/>
              </a:defRPr>
            </a:pPr>
            <a:r>
              <a:t>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200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B2A4A"/>
                </a:solidFill>
                <a:latin typeface="맑은 고딕"/>
              </a:defRPr>
            </a:pPr>
            <a:r>
              <a:t>셀프마케팅 + AI로직연구소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2563EB"/>
                </a:solidFill>
                <a:latin typeface="맑은 고딕"/>
              </a:defRPr>
            </a:pPr>
            <a:r>
              <a:t>구축 완료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645920"/>
            <a:ext cx="30175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80760" y="201168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148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맑은 고딕"/>
              </a:defRPr>
            </a:pPr>
            <a: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200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B2A4A"/>
                </a:solidFill>
                <a:latin typeface="맑은 고딕"/>
              </a:defRPr>
            </a:pPr>
            <a:r>
              <a:t>구체화된 순위 방어 로직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7C3AED"/>
                </a:solidFill>
                <a:latin typeface="맑은 고딕"/>
              </a:defRPr>
            </a:pPr>
            <a:r>
              <a:t>+ 상승 로직 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645920"/>
            <a:ext cx="30175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8360" y="2011680"/>
            <a:ext cx="914400" cy="914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148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맑은 고딕"/>
              </a:defRPr>
            </a:pPr>
            <a: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200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B2A4A"/>
                </a:solidFill>
                <a:latin typeface="맑은 고딕"/>
              </a:defRPr>
            </a:pPr>
            <a:r>
              <a:t>안전하고 꾸준한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16A34A"/>
                </a:solidFill>
                <a:latin typeface="맑은 고딕"/>
              </a:defRPr>
            </a:pPr>
            <a:r>
              <a:t>데이터 기반 추구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6464"/>
                </a:solidFill>
                <a:latin typeface="맑은 고딕"/>
              </a:defRPr>
            </a:pPr>
            <a:r>
              <a:t>단순 트래픽 유입 대행에서 벗어나, 실시간 데이터 분석 기반 순위 방어 체계 구축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마드모아젤헤어 4개 지점 현황 진단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19202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지점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순위 변동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N2 변동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블로그 삭제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저품질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마크원애비뉴점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하락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6A34A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나성1호점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1위 → 14위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6A34A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나성2호점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14위 → 21위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-0.10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6A34A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반곡점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하락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-0.08 이상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해당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6A34A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400"/>
              </a:spcAft>
              <a:defRPr sz="1300" b="1">
                <a:solidFill>
                  <a:srgbClr val="1B2A4A"/>
                </a:solidFill>
                <a:latin typeface="맑은 고딕"/>
              </a:defRPr>
            </a:pPr>
            <a:r>
              <a:t>공통사항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N1(SEO) 변동 없음 — 플레이스 자체 문제 아님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• 배포형 블로그 300~400건 일괄 삭제로 N2 점수 급락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212080"/>
            <a:ext cx="10058400" cy="731520"/>
          </a:xfrm>
          <a:prstGeom prst="rect">
            <a:avLst/>
          </a:prstGeom>
          <a:solidFill>
            <a:srgbClr val="ECFDF5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34924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✅  종합 판단:  4개 지점 모두 저품질 상태 아님  →  회복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640080"/>
            <a:ext cx="640080" cy="6400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71323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713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1B2A4A"/>
                </a:solidFill>
                <a:latin typeface="맑은 고딕"/>
              </a:defRPr>
            </a:pPr>
            <a:r>
              <a:t>4개 지점 N2가 동시에 하락한 원인은 무엇입니까?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640080" cy="640080"/>
          </a:xfrm>
          <a:prstGeom prst="round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9164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2026년 3월 초, 네이버가 배포형 블로그를 대량 삭제하면서</a:t>
            </a:r>
            <a:br/>
            <a:r>
              <a:t>4개 지점 모두에서 N2(외부 유입 점수)가 동시에 하락했습니다.</a:t>
            </a:r>
            <a:br/>
            <a:br/>
            <a:r>
              <a:t>이는 특정 지점만의 문제가 아닌, 네이버 알고리즘 정책 변화에 따른</a:t>
            </a:r>
            <a:br/>
            <a:r>
              <a:t>업계 전반적인 현상입니다.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3840480"/>
            <a:ext cx="7315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38862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6A34A"/>
                </a:solidFill>
                <a:latin typeface="맑은 고딕"/>
              </a:defRPr>
            </a:pPr>
            <a:r>
              <a:t>✅  N1(SEO) 변동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4389120"/>
            <a:ext cx="7315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44348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6A34A"/>
                </a:solidFill>
                <a:latin typeface="맑은 고딕"/>
              </a:defRPr>
            </a:pPr>
            <a:r>
              <a:t>✅  4개 지점 모두 저품질 해당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4937760"/>
            <a:ext cx="7315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49834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✅  정상적인 회복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640080"/>
            <a:ext cx="640080" cy="6400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71323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713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1B2A4A"/>
                </a:solidFill>
                <a:latin typeface="맑은 고딕"/>
              </a:defRPr>
            </a:pPr>
            <a:r>
              <a:t>블로그 대량 삭제, 어떻게 상쇄합니까?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640080" cy="640080"/>
          </a:xfrm>
          <a:prstGeom prst="round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9164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400"/>
              </a:spcAft>
              <a:defRPr sz="1600" b="1">
                <a:solidFill>
                  <a:srgbClr val="DC2626"/>
                </a:solidFill>
                <a:latin typeface="맑은 고딕"/>
              </a:defRPr>
            </a:pPr>
            <a:r>
              <a:t>단순 재배포 = 오히려 독</a:t>
            </a:r>
          </a:p>
          <a:p>
            <a:pPr algn="l">
              <a:lnSpc>
                <a:spcPts val="1200"/>
              </a:lnSpc>
              <a:spcAft>
                <a:spcPts val="400"/>
              </a:spcAft>
              <a:defRPr sz="800" b="0">
                <a:solidFill>
                  <a:srgbClr val="1A1A2E"/>
                </a:solidFill>
                <a:latin typeface="맑은 고딕"/>
              </a:defRPr>
            </a:pP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CLOVA AI 도입 이후, 동일 패턴의 블로그를 재배포하면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오히려 패턴으로 인식되어 추가 제재를 받습니다.</a:t>
            </a:r>
          </a:p>
          <a:p>
            <a:pPr algn="l">
              <a:lnSpc>
                <a:spcPts val="1200"/>
              </a:lnSpc>
              <a:spcAft>
                <a:spcPts val="400"/>
              </a:spcAft>
              <a:defRPr sz="800" b="0">
                <a:solidFill>
                  <a:srgbClr val="1A1A2E"/>
                </a:solidFill>
                <a:latin typeface="맑은 고딕"/>
              </a:defRPr>
            </a:pPr>
          </a:p>
          <a:p>
            <a:pPr algn="l">
              <a:lnSpc>
                <a:spcPts val="2100"/>
              </a:lnSpc>
              <a:spcAft>
                <a:spcPts val="400"/>
              </a:spcAft>
              <a:defRPr sz="1400" b="1">
                <a:solidFill>
                  <a:srgbClr val="1B2A4A"/>
                </a:solidFill>
                <a:latin typeface="맑은 고딕"/>
              </a:defRPr>
            </a:pPr>
            <a:r>
              <a:t>핵심 포인트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2주 단위, 빠르면 1주 단위 가중치 변동 환경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패턴화되지 않는 다양한 경로의 유입 설계 필요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AI가 감지할 수 없는 자연스러운 시그널 구축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1663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A1A2E"/>
                </a:solidFill>
                <a:latin typeface="맑은 고딕"/>
              </a:defRPr>
            </a:pPr>
            <a:r>
              <a:t>과거 방식의 '양'으로 밀어붙이는 전략은 2026년에 더 이상 통하지 않습니다.</a:t>
            </a:r>
            <a:br/>
            <a:r>
              <a:t>패턴을 피하면서 점수를 회복하는 정밀한 전략이 필요합니다.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640080"/>
            <a:ext cx="640080" cy="6400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71323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713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1B2A4A"/>
                </a:solidFill>
                <a:latin typeface="맑은 고딕"/>
              </a:defRPr>
            </a:pPr>
            <a:r>
              <a:t>급락 지점의 1단계 회복 플랜은?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640080" cy="640080"/>
          </a:xfrm>
          <a:prstGeom prst="round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9164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400"/>
              </a:spcAft>
              <a:defRPr sz="1500" b="1">
                <a:solidFill>
                  <a:srgbClr val="1B2A4A"/>
                </a:solidFill>
                <a:latin typeface="맑은 고딕"/>
              </a:defRPr>
            </a:pPr>
            <a:r>
              <a:t>패턴화되지 않는 작업 + AI 감지 불가 방식 설계</a:t>
            </a:r>
          </a:p>
          <a:p>
            <a:pPr algn="l">
              <a:lnSpc>
                <a:spcPts val="1200"/>
              </a:lnSpc>
              <a:spcAft>
                <a:spcPts val="400"/>
              </a:spcAft>
              <a:defRPr sz="800" b="0">
                <a:solidFill>
                  <a:srgbClr val="1A1A2E"/>
                </a:solidFill>
                <a:latin typeface="맑은 고딕"/>
              </a:defRPr>
            </a:pPr>
          </a:p>
          <a:p>
            <a:pPr algn="l">
              <a:lnSpc>
                <a:spcPts val="1950"/>
              </a:lnSpc>
              <a:spcAft>
                <a:spcPts val="400"/>
              </a:spcAft>
              <a:defRPr sz="1300" b="1">
                <a:solidFill>
                  <a:srgbClr val="2563EB"/>
                </a:solidFill>
                <a:latin typeface="맑은 고딕"/>
              </a:defRPr>
            </a:pPr>
            <a:r>
              <a:t>1단계 회복 전략 핵심: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기존 삭제된 블로그와 다른 패턴의 콘텐츠 설계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다양한 유입 경로 분산 (블로그 + 카페 + 지도저장 등)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급격한 유입 증가 없이 자연스러운 회복 곡선 설계</a:t>
            </a:r>
          </a:p>
          <a:p>
            <a:pPr algn="l">
              <a:lnSpc>
                <a:spcPts val="1950"/>
              </a:lnSpc>
              <a:spcAft>
                <a:spcPts val="400"/>
              </a:spcAft>
              <a:defRPr sz="1300" b="0">
                <a:solidFill>
                  <a:srgbClr val="1A1A2E"/>
                </a:solidFill>
                <a:latin typeface="맑은 고딕"/>
              </a:defRPr>
            </a:pPr>
            <a:r>
              <a:t>• 1~2주 단위 모니터링 + 실시간 전략 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389120"/>
            <a:ext cx="10058400" cy="1097280"/>
          </a:xfrm>
          <a:prstGeom prst="rect">
            <a:avLst/>
          </a:prstGeom>
          <a:solidFill>
            <a:srgbClr val="FFFAEB"/>
          </a:solidFill>
          <a:ln w="2540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26280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B2A4A"/>
                </a:solidFill>
                <a:latin typeface="맑은 고딕"/>
              </a:defRPr>
            </a:pPr>
            <a:r>
              <a:t>📌  안정적인 작업 속도 유지  +  회복과 방어 동시 진행</a:t>
            </a:r>
            <a:br/>
            <a:br/>
            <a:r>
              <a:t>급하게 올리다 다시 떨어지는 악순환이 아닌,</a:t>
            </a:r>
            <a:br/>
            <a:r>
              <a:t>한 번 올리면 유지되는 구조를 만듭니다.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8090B0"/>
                </a:solidFill>
                <a:latin typeface="맑은 고딕"/>
              </a:defRPr>
            </a:pPr>
            <a:r>
              <a:t>온다마케팅  | 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순위 상승 로직 운용 사례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645920"/>
            <a:ext cx="4846320" cy="4114800"/>
          </a:xfrm>
          <a:prstGeom prst="rect">
            <a:avLst/>
          </a:prstGeom>
          <a:solidFill>
            <a:srgbClr val="22365A"/>
          </a:solidFill>
          <a:ln w="12700">
            <a:solidFill>
              <a:srgbClr val="3A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D4A853"/>
                </a:solidFill>
                <a:latin typeface="맑은 고딕"/>
              </a:defRPr>
            </a:pPr>
            <a:r>
              <a:t>사례 A  |  정형외과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8위 → 2위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D4A853"/>
                </a:solidFill>
                <a:latin typeface="맑은 고딕"/>
              </a:defRPr>
            </a:pPr>
            <a:r>
              <a:t>N2  0.4816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66160"/>
            <a:ext cx="4297680" cy="201168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3891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A 순위 그래프]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45920"/>
            <a:ext cx="4846320" cy="4114800"/>
          </a:xfrm>
          <a:prstGeom prst="rect">
            <a:avLst/>
          </a:prstGeom>
          <a:solidFill>
            <a:srgbClr val="22365A"/>
          </a:solidFill>
          <a:ln w="12700">
            <a:solidFill>
              <a:srgbClr val="3A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D4A853"/>
                </a:solidFill>
                <a:latin typeface="맑은 고딕"/>
              </a:defRPr>
            </a:pPr>
            <a:r>
              <a:t>사례 B  |  피부과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1위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D4A853"/>
                </a:solidFill>
                <a:latin typeface="맑은 고딕"/>
              </a:defRPr>
            </a:pPr>
            <a:r>
              <a:t>N2  0.5189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566160"/>
            <a:ext cx="4297680" cy="201168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891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B 순위 그래프]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3월 블로그 삭제 이후 회복 사례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554480"/>
            <a:ext cx="3108960" cy="4389120"/>
          </a:xfrm>
          <a:prstGeom prst="rect">
            <a:avLst/>
          </a:prstGeom>
          <a:solidFill>
            <a:srgbClr val="F8F9F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2563EB"/>
                </a:solidFill>
                <a:latin typeface="맑은 고딕"/>
              </a:defRPr>
            </a:pPr>
            <a:r>
              <a:t>사례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부산피부과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현재 14위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D4A853"/>
                </a:solidFill>
                <a:latin typeface="맑은 고딕"/>
              </a:defRPr>
            </a:pPr>
            <a:r>
              <a:t>N2  0.4959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00400"/>
            <a:ext cx="2743200" cy="256032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C 그래프]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554480"/>
            <a:ext cx="3108960" cy="4389120"/>
          </a:xfrm>
          <a:prstGeom prst="rect">
            <a:avLst/>
          </a:prstGeom>
          <a:solidFill>
            <a:srgbClr val="F8F9F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2563EB"/>
                </a:solidFill>
                <a:latin typeface="맑은 고딕"/>
              </a:defRPr>
            </a:pPr>
            <a:r>
              <a:t>사례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대구성형외과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현재 14위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D4A853"/>
                </a:solidFill>
                <a:latin typeface="맑은 고딕"/>
              </a:defRPr>
            </a:pPr>
            <a:r>
              <a:t>N2  0.4148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3200400"/>
            <a:ext cx="2743200" cy="256032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D 그래프]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1554480"/>
            <a:ext cx="3108960" cy="4389120"/>
          </a:xfrm>
          <a:prstGeom prst="rect">
            <a:avLst/>
          </a:prstGeom>
          <a:solidFill>
            <a:srgbClr val="F8F9F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9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2563EB"/>
                </a:solidFill>
                <a:latin typeface="맑은 고딕"/>
              </a:defRPr>
            </a:pPr>
            <a:r>
              <a:t>사례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신림성형외과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현재 3위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D4A853"/>
                </a:solidFill>
                <a:latin typeface="맑은 고딕"/>
              </a:defRPr>
            </a:pPr>
            <a:r>
              <a:t>N2  0.4371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599" y="3200400"/>
            <a:ext cx="2743200" cy="256032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9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E 그래프]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미용실 업종 레퍼런스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2563EB"/>
                </a:solidFill>
                <a:latin typeface="맑은 고딕"/>
              </a:defRPr>
            </a:pPr>
            <a:r>
              <a:t>귀사와 동일 업종 실적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737360"/>
            <a:ext cx="48463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2563EB"/>
                </a:solidFill>
                <a:latin typeface="맑은 고딕"/>
              </a:defRPr>
            </a:pPr>
            <a:r>
              <a:t>사례 F  |  미용실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B2A4A"/>
                </a:solidFill>
                <a:latin typeface="맑은 고딕"/>
              </a:defRPr>
            </a:pPr>
            <a:r>
              <a:t>15위 → 2위  (1주 13계단 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D4A853"/>
                </a:solidFill>
                <a:latin typeface="맑은 고딕"/>
              </a:defRPr>
            </a:pPr>
            <a:r>
              <a:t>N2  0.4541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48463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2563EB"/>
                </a:solidFill>
                <a:latin typeface="맑은 고딕"/>
              </a:defRPr>
            </a:pPr>
            <a:r>
              <a:t>사례 G  |  미용실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1B2A4A"/>
                </a:solidFill>
                <a:latin typeface="맑은 고딕"/>
              </a:defRPr>
            </a:pPr>
            <a:r>
              <a:t>81위 → 40위  (2주 41계단 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97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D4A853"/>
                </a:solidFill>
                <a:latin typeface="맑은 고딕"/>
              </a:defRPr>
            </a:pPr>
            <a:r>
              <a:t>N2  0.4460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383280"/>
            <a:ext cx="4846320" cy="201168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F 순위 그래프]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383280"/>
            <a:ext cx="4846320" cy="201168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사례 G 순위 그래프]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5623560"/>
            <a:ext cx="1005840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7607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B2A4A"/>
                </a:solidFill>
                <a:latin typeface="맑은 고딕"/>
              </a:defRPr>
            </a:pPr>
            <a:r>
              <a:t>📊  7건 사례 종합:  순위 상승 로직 검증 완료  |  블로그 삭제 후 회복 실적 보유  |  미용실 업종 성과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메인 키워드 하나면 충분합니다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400" b="0">
                <a:solidFill>
                  <a:srgbClr val="1A1A2E"/>
                </a:solidFill>
                <a:latin typeface="맑은 고딕"/>
              </a:defRPr>
            </a:pPr>
            <a:r>
              <a:t>플레이스 점수를 올리면 연관 키워드도 동반 상승합니다 (낙수효과)</a:t>
            </a:r>
            <a:br/>
            <a:r>
              <a:t>메인 키워드 1개에 집중하면, 나머지는 자연스럽게 따라옵니다.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560320"/>
            <a:ext cx="4754880" cy="1371600"/>
          </a:xfrm>
          <a:prstGeom prst="rect">
            <a:avLst/>
          </a:prstGeom>
          <a:solidFill>
            <a:srgbClr val="F8F9F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697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나성동미용실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6464"/>
                </a:solidFill>
                <a:latin typeface="맑은 고딕"/>
              </a:defRPr>
            </a:pPr>
            <a:r>
              <a:t>월 검색량 3,980건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80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2563EB"/>
                </a:solidFill>
                <a:latin typeface="맑은 고딕"/>
              </a:defRPr>
            </a:pPr>
            <a:r>
              <a:t>8위 → 6위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560320"/>
            <a:ext cx="4754880" cy="1371600"/>
          </a:xfrm>
          <a:prstGeom prst="rect">
            <a:avLst/>
          </a:prstGeom>
          <a:solidFill>
            <a:srgbClr val="F8F9F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697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B2A4A"/>
                </a:solidFill>
                <a:latin typeface="맑은 고딕"/>
              </a:defRPr>
            </a:pPr>
            <a:r>
              <a:t>세종미용실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6464"/>
                </a:solidFill>
                <a:latin typeface="맑은 고딕"/>
              </a:defRPr>
            </a:pPr>
            <a:r>
              <a:t>월 검색량 9,170건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880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2563EB"/>
                </a:solidFill>
                <a:latin typeface="맑은 고딕"/>
              </a:defRPr>
            </a:pPr>
            <a:r>
              <a:t>16위 → 13위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206240"/>
            <a:ext cx="4754880" cy="182880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키워드 순위 변동 그래프]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400"/>
              </a:spcAft>
              <a:defRPr sz="1300" b="1">
                <a:solidFill>
                  <a:srgbClr val="1B2A4A"/>
                </a:solidFill>
                <a:latin typeface="맑은 고딕"/>
              </a:defRPr>
            </a:pPr>
            <a:r>
              <a:t>참고: 연관도 낮은 키워드</a:t>
            </a:r>
          </a:p>
          <a:p>
            <a:pPr algn="l">
              <a:lnSpc>
                <a:spcPts val="900"/>
              </a:lnSpc>
              <a:spcAft>
                <a:spcPts val="400"/>
              </a:spcAft>
              <a:defRPr sz="600" b="0">
                <a:solidFill>
                  <a:srgbClr val="1A1A2E"/>
                </a:solidFill>
                <a:latin typeface="맑은 고딕"/>
              </a:defRPr>
            </a:pPr>
          </a:p>
          <a:p>
            <a:pPr algn="l">
              <a:lnSpc>
                <a:spcPts val="1800"/>
              </a:lnSpc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'다정동미용실', '새롬동미용실' 등은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플레이스명과 연관도가 낮아</a:t>
            </a:r>
          </a:p>
          <a:p>
            <a:pPr algn="l">
              <a:lnSpc>
                <a:spcPts val="1800"/>
              </a:lnSpc>
              <a:spcAft>
                <a:spcPts val="400"/>
              </a:spcAft>
              <a:defRPr sz="1200" b="0">
                <a:solidFill>
                  <a:srgbClr val="1A1A2E"/>
                </a:solidFill>
                <a:latin typeface="맑은 고딕"/>
              </a:defRPr>
            </a:pPr>
            <a:r>
              <a:t>낙수효과가 제한적입니다.</a:t>
            </a:r>
          </a:p>
          <a:p>
            <a:pPr algn="l">
              <a:lnSpc>
                <a:spcPts val="900"/>
              </a:lnSpc>
              <a:spcAft>
                <a:spcPts val="400"/>
              </a:spcAft>
              <a:defRPr sz="600" b="0">
                <a:solidFill>
                  <a:srgbClr val="1A1A2E"/>
                </a:solidFill>
                <a:latin typeface="맑은 고딕"/>
              </a:defRPr>
            </a:pPr>
          </a:p>
          <a:p>
            <a:pPr algn="l">
              <a:lnSpc>
                <a:spcPts val="1800"/>
              </a:lnSpc>
              <a:spcAft>
                <a:spcPts val="400"/>
              </a:spcAft>
              <a:defRPr sz="1200" b="1">
                <a:solidFill>
                  <a:srgbClr val="2563EB"/>
                </a:solidFill>
                <a:latin typeface="맑은 고딕"/>
              </a:defRPr>
            </a:pPr>
            <a:r>
              <a:t>→ 메인 키워드 집중이 효율적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8090B0"/>
                </a:solidFill>
                <a:latin typeface="맑은 고딕"/>
              </a:defRPr>
            </a:pPr>
            <a:r>
              <a:t>온다마케팅  |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제안 서비스:  안전보장형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A0BBDD"/>
                </a:solidFill>
                <a:latin typeface="맑은 고딕"/>
              </a:defRPr>
            </a:pPr>
            <a:r>
              <a:t>안전보장형  =  관리형의 안정성  +  순위보장형의 성과  →  최적의 균형점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21031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31520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전략 항목</a:t>
                      </a:r>
                    </a:p>
                  </a:txBody>
                  <a:tcPr anchor="ctr">
                    <a:solidFill>
                      <a:srgbClr val="D4A85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운영 방식</a:t>
                      </a:r>
                    </a:p>
                  </a:txBody>
                  <a:tcPr anchor="ctr">
                    <a:solidFill>
                      <a:srgbClr val="D4A85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4A853"/>
                          </a:solidFill>
                          <a:latin typeface="맑은 고딕"/>
                        </a:defRPr>
                      </a:pPr>
                      <a:r>
                        <a:t>키워드 세분화</a:t>
                      </a:r>
                    </a:p>
                  </a:txBody>
                  <a:tcPr anchor="ctr">
                    <a:solidFill>
                      <a:srgbClr val="2236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10유입 단위로 분할하여 패턴 감지 회피</a:t>
                      </a:r>
                      <a:br/>
                      <a:r>
                        <a:t>동일 키워드 반복 유입 방지</a:t>
                      </a:r>
                    </a:p>
                  </a:txBody>
                  <a:tcPr anchor="ctr">
                    <a:solidFill>
                      <a:srgbClr val="22365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4A853"/>
                          </a:solidFill>
                          <a:latin typeface="맑은 고딕"/>
                        </a:defRPr>
                      </a:pPr>
                      <a:r>
                        <a:t>유입경로 다양화</a:t>
                      </a:r>
                    </a:p>
                  </a:txBody>
                  <a:tcPr anchor="ctr">
                    <a:solidFill>
                      <a:srgbClr val="1B2F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매일 다른 키워드로 세팅</a:t>
                      </a:r>
                      <a:br/>
                      <a:r>
                        <a:t>블로그·카페·지도 등 다채널 분산</a:t>
                      </a:r>
                    </a:p>
                  </a:txBody>
                  <a:tcPr anchor="ctr">
                    <a:solidFill>
                      <a:srgbClr val="1B2F5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4A853"/>
                          </a:solidFill>
                          <a:latin typeface="맑은 고딕"/>
                        </a:defRPr>
                      </a:pPr>
                      <a:r>
                        <a:t>매체·미션 다양화</a:t>
                      </a:r>
                    </a:p>
                  </a:txBody>
                  <a:tcPr anchor="ctr">
                    <a:solidFill>
                      <a:srgbClr val="2236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단일 반복 지양, 다양한 매체·미션 조합</a:t>
                      </a:r>
                      <a:br/>
                      <a:r>
                        <a:t>AI가 패턴으로 인식하지 못하는 자연스러운 시그널</a:t>
                      </a:r>
                    </a:p>
                  </a:txBody>
                  <a:tcPr anchor="ctr">
                    <a:solidFill>
                      <a:srgbClr val="22365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4846320"/>
            <a:ext cx="10058400" cy="914400"/>
          </a:xfrm>
          <a:prstGeom prst="rect">
            <a:avLst/>
          </a:prstGeom>
          <a:solidFill>
            <a:srgbClr val="22365A"/>
          </a:solidFill>
          <a:ln w="2540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98348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D4A853"/>
                </a:solidFill>
                <a:latin typeface="맑은 고딕"/>
              </a:defRPr>
            </a:pPr>
            <a:r>
              <a:t>🛡️  안전보장형의 핵심 가치</a:t>
            </a:r>
            <a:br/>
            <a:r>
              <a:t>순위를 올리되, 떨어지지 않게.  비용은 낮추되, 성과는 유지하게.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0">
                <a:solidFill>
                  <a:srgbClr val="1A1A2E"/>
                </a:solidFill>
                <a:latin typeface="맑은 고딕"/>
              </a:defRPr>
            </a:pPr>
            <a:r>
              <a:t>다른 업체들의 순위가 일제히 떨어질 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3600" b="1">
                <a:solidFill>
                  <a:srgbClr val="2563EB"/>
                </a:solidFill>
                <a:latin typeface="맑은 고딕"/>
              </a:defRPr>
            </a:pPr>
            <a:r>
              <a:t>귀사의 순위를 지킬 수 있는</a:t>
            </a:r>
            <a:br/>
            <a:r>
              <a:t>가장 확실한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297680"/>
            <a:ext cx="2103120" cy="254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646464"/>
                </a:solidFill>
                <a:latin typeface="맑은 고딕"/>
              </a:defRPr>
            </a:pPr>
            <a:r>
              <a:t>안정적으로 유지되는 순위가 실질적인 매출을 만듭니다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셀프마케팅 + AI로직연구소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2563EB"/>
                </a:solidFill>
                <a:latin typeface="맑은 고딕"/>
              </a:defRPr>
            </a:pPr>
            <a:r>
              <a:t>출시 예정  |  온다마케팅 독자 개발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737360"/>
          <a:ext cx="6400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기능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상세 내용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실시간 로직 모니터링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3.5일 간격으로 알고리즘 변동 감지</a:t>
                      </a:r>
                      <a:br/>
                      <a:r>
                        <a:t>선제적 대응 가능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맞춤 매체 추천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안전성 + 효율성 최적 매체 자동 추천</a:t>
                      </a:r>
                      <a:br/>
                      <a:r>
                        <a:t>리스크 최소화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자동 등록 및 전환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충전 시 자동 처리</a:t>
                      </a:r>
                      <a:br/>
                      <a:r>
                        <a:t>수동 작업 최소화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955279" y="1737360"/>
            <a:ext cx="3200400" cy="3931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520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9CA3AF"/>
                </a:solidFill>
                <a:latin typeface="맑은 고딕"/>
              </a:defRPr>
            </a:pPr>
            <a:r>
              <a:t>[이미지 자리: AI로직연구소 솔루션 화면]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1B2A4A"/>
                </a:solidFill>
                <a:latin typeface="맑은 고딕"/>
              </a:defRPr>
            </a:pPr>
            <a:r>
              <a:t>견적 안내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2286000"/>
                <a:gridCol w="246888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지점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현재순위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 (첫달)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 (2개월~)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안전보장형 (권장)</a:t>
                      </a:r>
                    </a:p>
                  </a:txBody>
                  <a:tcPr anchor="ctr">
                    <a:solidFill>
                      <a:srgbClr val="D4A85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마크원애비뉴점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13위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1,800,000원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나성1호점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15위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1,900,000원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나성2호점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20위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2,100,000원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반곡점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21위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2,200,000원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1,200,000원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900,000원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4지점 합계</a:t>
                      </a:r>
                    </a:p>
                  </a:txBody>
                  <a:tcPr anchor="ctr"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8,000,000원</a:t>
                      </a:r>
                    </a:p>
                  </a:txBody>
                  <a:tcPr anchor="ctr"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4,800,000원</a:t>
                      </a:r>
                    </a:p>
                  </a:txBody>
                  <a:tcPr anchor="ctr">
                    <a:solidFill>
                      <a:srgbClr val="E8EB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3,600,000원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6464"/>
                </a:solidFill>
                <a:latin typeface="맑은 고딕"/>
              </a:defRPr>
            </a:pPr>
            <a:r>
              <a:t>※ 4개 지점 동시 진행 시 지점당 월 90만원 균일</a:t>
            </a:r>
            <a:br/>
            <a:r>
              <a:t>※ 안전보장형은 계약기간 없음, 1주 단위 리포팅 제공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10698480" cy="548640"/>
          </a:xfrm>
          <a:prstGeom prst="rect">
            <a:avLst/>
          </a:prstGeom>
          <a:solidFill>
            <a:srgbClr val="FEF3C7"/>
          </a:solidFill>
          <a:ln w="25400">
            <a:solidFill>
              <a:srgbClr val="D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76072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B2A4A"/>
                </a:solidFill>
                <a:latin typeface="맑은 고딕"/>
              </a:defRPr>
            </a:pPr>
            <a:r>
              <a:t>💡  안전보장형 4지점 합계 월 360만원  —  보장형 대비 55% 절감 + 하락 리스크 최소화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355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1A1A2E"/>
                </a:solidFill>
                <a:latin typeface="맑은 고딕"/>
              </a:defRPr>
            </a:pPr>
            <a:r>
              <a:t>온다마케팅  | 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48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1B2A4A"/>
                </a:solidFill>
                <a:latin typeface="맑은 고딕"/>
              </a:defRPr>
            </a:pPr>
            <a:r>
              <a:t>운영 조건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886200"/>
                <a:gridCol w="3886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보장형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안전보장형 (권장)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작업방식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공격적 트래픽 투입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내부 로직 중심 안정적 관리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상승속도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점진적 / 안정적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하락 리스크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DC2626"/>
                          </a:solidFill>
                          <a:latin typeface="맑은 고딕"/>
                        </a:defRPr>
                      </a:pPr>
                      <a:r>
                        <a:t>높음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6A34A"/>
                          </a:solidFill>
                          <a:latin typeface="맑은 고딕"/>
                        </a:defRPr>
                      </a:pPr>
                      <a:r>
                        <a:t>낮음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결제방식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노출 후 결제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월 관리비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계약기간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없음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리포팅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1주일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1주일 (대시보드 상시)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B2A4A"/>
                          </a:solidFill>
                          <a:latin typeface="맑은 고딕"/>
                        </a:defRPr>
                      </a:pPr>
                      <a:r>
                        <a:t>월비용 (4지점)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1A2E"/>
                          </a:solidFill>
                          <a:latin typeface="맑은 고딕"/>
                        </a:defRPr>
                      </a:pPr>
                      <a:r>
                        <a:t>첫달 800만 / 유지 480만</a:t>
                      </a:r>
                    </a:p>
                  </a:txBody>
                  <a:tcPr anchor="ctr"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360만원 (균일)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97280" y="5577840"/>
            <a:ext cx="10058400" cy="640080"/>
          </a:xfrm>
          <a:prstGeom prst="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71500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B2A4A"/>
                </a:solidFill>
                <a:latin typeface="맑은 고딕"/>
              </a:defRPr>
            </a:pPr>
            <a:r>
              <a:t>온다마케팅은 안전보장형을 권장드립니다.</a:t>
            </a:r>
            <a:br/>
            <a:r>
              <a:t>급격한 상승보다 안정적인 유지가 실질 매출에 기여합니다.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00400"/>
            <a:ext cx="2103120" cy="254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0">
                <a:solidFill>
                  <a:srgbClr val="D4A853"/>
                </a:solidFill>
                <a:latin typeface="맑은 고딕"/>
              </a:defRPr>
            </a:pPr>
            <a:r>
              <a:t>어떤 방식을 선택하시더라도</a:t>
            </a:r>
            <a:br/>
            <a:r>
              <a:t>최선의 결과를 만들겠습니다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5029200"/>
            <a:ext cx="5760720" cy="12700"/>
          </a:xfrm>
          <a:prstGeom prst="rect">
            <a:avLst/>
          </a:prstGeom>
          <a:solidFill>
            <a:srgbClr val="3A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8090B0"/>
                </a:solidFill>
                <a:latin typeface="맑은 고딕"/>
              </a:defRPr>
            </a:pPr>
            <a:r>
              <a:t>온다마케팅  |  연락처: [담당자 연락처 기입]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