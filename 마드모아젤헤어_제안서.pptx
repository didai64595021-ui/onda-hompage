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nda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0" y="900000"/>
            <a:ext cx="3600000" cy="108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00000" y="2340000"/>
            <a:ext cx="1039212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맑은 고딕"/>
              </a:defRPr>
            </a:pPr>
            <a:r>
              <a:t>네이버 종합광고 실행사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808000"/>
            <a:ext cx="1039212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맑은 고딕"/>
              </a:defRPr>
            </a:pPr>
            <a:r>
              <a:t>마드모아젤헤어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3671999"/>
            <a:ext cx="1039212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4A853"/>
                </a:solidFill>
                <a:latin typeface="맑은 고딕"/>
              </a:defRPr>
            </a:pPr>
            <a:r>
              <a:t>플레이스 순위 회복 및 방어 전략 제안서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4320000"/>
            <a:ext cx="1039212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999AA"/>
                </a:solidFill>
                <a:latin typeface="맑은 고딕"/>
              </a:defRPr>
            </a:pPr>
            <a:r>
              <a:t>세종시 4개 지점 통합 진단 | 안전보장형 운영 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80000" y="630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99"/>
                </a:solidFill>
                <a:latin typeface="맑은 고딕"/>
              </a:defRPr>
            </a:pPr>
            <a:r>
              <a:t>2026.03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nda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119" y="180000"/>
            <a:ext cx="1440000" cy="43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00000" y="648000"/>
            <a:ext cx="1039212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맑은 고딕"/>
              </a:defRPr>
            </a:pPr>
            <a:r>
              <a:t>인사말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1188000"/>
            <a:ext cx="14400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440000"/>
            <a:ext cx="1039212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안녕하세요. 마드모아젤헤어 마케팅 미팅에 참여하게 되어 감사드립니다.</a:t>
            </a:r>
            <a:br/>
            <a:br/>
            <a:r>
              <a:t>저희는 네이버 플레이스, 인스타그램 등 온라인 채널을 통합 운영하는</a:t>
            </a:r>
            <a:br/>
            <a:r>
              <a:t>종합광고 실행사 온다마케팅입니다.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000" y="3420000"/>
            <a:ext cx="10392120" cy="900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l">
              <a:defRPr sz="1200">
                <a:solidFill>
                  <a:srgbClr val="1A1A2E"/>
                </a:solidFill>
                <a:latin typeface="맑은 고딕"/>
              </a:defRPr>
            </a:pPr>
            <a:r>
              <a:t>본 제안서는 귀사의 현재 플레이스 현황에 대한 진단과 함께,</a:t>
            </a:r>
            <a:br/>
            <a:r>
              <a:t>2026년 변화된 알고리즘 환경에 맞는 대응 전략을 담고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80000" y="6408000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온다마케팅 | 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nda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119" y="180000"/>
            <a:ext cx="1440000" cy="43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00000" y="648000"/>
            <a:ext cx="1039212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맑은 고딕"/>
              </a:defRPr>
            </a:pPr>
            <a:r>
              <a:t>2026년, 플레이스 마케팅의 규칙이 바뀌었습니다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1188000"/>
            <a:ext cx="14400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0000" y="1512000"/>
            <a:ext cx="4860000" cy="32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0000" y="1620000"/>
            <a:ext cx="4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6B7280"/>
                </a:solidFill>
                <a:latin typeface="맑은 고딕"/>
              </a:defRPr>
            </a:pPr>
            <a:r>
              <a:t>과거 (2025년 이전)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2088000"/>
            <a:ext cx="4284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• 트래픽 양 = 순위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• 3~6개월 단위 로직 변경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• 배포형 블로그로 순위 상승 가능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• 공격적 작업 = 빠른 성과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32120" y="1512000"/>
            <a:ext cx="4860000" cy="324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2120" y="1620000"/>
            <a:ext cx="4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맑은 고딕"/>
              </a:defRPr>
            </a:pPr>
            <a:r>
              <a:t>현재 (2026년 이후)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120" y="2088000"/>
            <a:ext cx="4284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• 트래픽 패턴 감지 → 제재/패널티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• 1~2주 단위 세부 로직 변동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• 배포형 블로그 대량 삭제 + 순위 급락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• 공격적 작업 = 공격적 하락 수반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32000" y="2700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563E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5040000"/>
            <a:ext cx="10392120" cy="648000"/>
          </a:xfrm>
          <a:prstGeom prst="roundRect">
            <a:avLst/>
          </a:prstGeom>
          <a:solidFill>
            <a:srgbClr val="FEF9EF"/>
          </a:solidFill>
          <a:ln w="19050">
            <a:solidFill>
              <a:srgbClr val="D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l">
              <a:defRPr sz="1300">
                <a:solidFill>
                  <a:srgbClr val="1A1A2E"/>
                </a:solidFill>
                <a:latin typeface="맑은 고딕"/>
              </a:defRPr>
            </a:pPr>
            <a:r>
              <a:t>핵심: 순위를 '올리는 것'보다, '지키는 것'이 더 어렵고 더 중요한 시대입니다.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80000" y="6408000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온다마케팅 | 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nda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119" y="180000"/>
            <a:ext cx="1440000" cy="43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00000" y="648000"/>
            <a:ext cx="1039212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맑은 고딕"/>
              </a:defRPr>
            </a:pPr>
            <a:r>
              <a:t>데이터 기반 순위 방어 체계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1188000"/>
            <a:ext cx="14400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0000" y="1620000"/>
            <a:ext cx="3164399" cy="306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0000" y="1620000"/>
            <a:ext cx="3164399" cy="9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872000"/>
            <a:ext cx="31643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2563EB"/>
                </a:solidFill>
                <a:latin typeface="맑은 고딕"/>
              </a:defRPr>
            </a:pPr>
            <a:r>
              <a:t>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700000"/>
            <a:ext cx="28043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맑은 고딕"/>
              </a:defRPr>
            </a:pPr>
            <a:r>
              <a:t>셀프마케팅 +</a:t>
            </a:r>
            <a:br/>
            <a:r>
              <a:t>AI로직연구소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3600000"/>
            <a:ext cx="28043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맑은 고딕"/>
              </a:defRPr>
            </a:pPr>
            <a:r>
              <a:t>상세 내용 9장 참조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8399" y="1620000"/>
            <a:ext cx="3164399" cy="306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8399" y="1620000"/>
            <a:ext cx="3164399" cy="9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8399" y="1872000"/>
            <a:ext cx="31643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2563EB"/>
                </a:solidFill>
                <a:latin typeface="맑은 고딕"/>
              </a:defRPr>
            </a:pPr>
            <a:r>
              <a:t>🛡️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8399" y="2700000"/>
            <a:ext cx="28043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맑은 고딕"/>
              </a:defRPr>
            </a:pPr>
            <a:r>
              <a:t>순위 방어 +</a:t>
            </a:r>
            <a:br/>
            <a:r>
              <a:t>상승 로직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8399" y="3600000"/>
            <a:ext cx="28043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맑은 고딕"/>
              </a:defRPr>
            </a:pPr>
            <a:r>
              <a:t>구체화된 로직 기반 운영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96798" y="1620000"/>
            <a:ext cx="3164399" cy="306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96798" y="1620000"/>
            <a:ext cx="3164399" cy="9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96798" y="1872000"/>
            <a:ext cx="31643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2563EB"/>
                </a:solidFill>
                <a:latin typeface="맑은 고딕"/>
              </a:defRPr>
            </a:pPr>
            <a:r>
              <a:t>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6798" y="2700000"/>
            <a:ext cx="28043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맑은 고딕"/>
              </a:defRPr>
            </a:pPr>
            <a:r>
              <a:t>안전하고 꾸준한</a:t>
            </a:r>
            <a:br/>
            <a:r>
              <a:t>상승 추구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6798" y="3600000"/>
            <a:ext cx="28043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맑은 고딕"/>
              </a:defRPr>
            </a:pPr>
            <a:r>
              <a:t>과도한 트래픽 대신 안정적 방어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000" y="5040000"/>
            <a:ext cx="103921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단순 트래픽 유입 대행에서 벗어나, 실시간 데이터 분석 기반의 순위 방어 체계를 구축하고 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80000" y="6408000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온다마케팅 | 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nda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119" y="180000"/>
            <a:ext cx="1440000" cy="43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00000" y="648000"/>
            <a:ext cx="1039212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맑은 고딕"/>
              </a:defRPr>
            </a:pPr>
            <a:r>
              <a:t>마드모아젤헤어 4개 지점 현황 진단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1188000"/>
            <a:ext cx="14400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00000" y="1440000"/>
          <a:ext cx="10392120" cy="16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424"/>
                <a:gridCol w="2078424"/>
                <a:gridCol w="2078424"/>
                <a:gridCol w="2078424"/>
                <a:gridCol w="2078424"/>
              </a:tblGrid>
              <a:tr h="324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지점</a:t>
                      </a: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순위 변동</a:t>
                      </a: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N2 변동</a:t>
                      </a: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블로그 삭제</a:t>
                      </a: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저품질</a:t>
                      </a: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마크원애비뉴점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하락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-0.08 이상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해당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없음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나성1호점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1위→14위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-0.08 이상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해당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없음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나성2호점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14위→21위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-0.10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해당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없음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반곡점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하락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-0.08 이상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해당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없음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00000" y="3168000"/>
            <a:ext cx="1039212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맑은 고딕"/>
              </a:defRPr>
            </a:pPr>
            <a:r>
              <a:t>공통: N1 변동 없음. N2 전 지점 동시 급락.</a:t>
            </a:r>
            <a:br/>
            <a:r>
              <a:t>블로그 리뷰 약 300~400건 삭제/누락. 방문자 리뷰 증가에도 순위 방어 실패.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000" y="4140000"/>
            <a:ext cx="10392120" cy="7200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l">
              <a:defRPr sz="1200">
                <a:solidFill>
                  <a:srgbClr val="1A1A2E"/>
                </a:solidFill>
                <a:latin typeface="맑은 고딕"/>
              </a:defRPr>
            </a:pPr>
            <a:r>
              <a:t>✅ 종합 판단: 4개 지점 모두 저품질 상태가 아닙니다.</a:t>
            </a:r>
            <a:br/>
            <a:r>
              <a:t>회복 가능한 상태이며, 적절한 대응 시 순위 정상화가 가능합니다.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80000" y="6408000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온다마케팅 | 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nda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119" y="180000"/>
            <a:ext cx="1440000" cy="432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900000" y="648000"/>
            <a:ext cx="540000" cy="540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000"/>
          <a:lstStyle/>
          <a:p>
            <a:pPr algn="ctr">
              <a:defRPr sz="2400" b="1">
                <a:solidFill>
                  <a:srgbClr val="FFFFFF"/>
                </a:solidFill>
                <a:latin typeface="맑은 고딕"/>
              </a:defRPr>
            </a:pPr>
            <a:r>
              <a:t>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0000" y="684000"/>
            <a:ext cx="967212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맑은 고딕"/>
              </a:defRPr>
            </a:pPr>
            <a:r>
              <a:t>전 지점 N2 동시 하락, 원인이 무엇입니까?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0000" y="1440000"/>
            <a:ext cx="540000" cy="5400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000"/>
          <a:lstStyle/>
          <a:p>
            <a:pPr algn="ctr">
              <a:defRPr sz="2400" b="1">
                <a:solidFill>
                  <a:srgbClr val="FFFFFF"/>
                </a:solidFill>
                <a:latin typeface="맑은 고딕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0000" y="1475999"/>
            <a:ext cx="967212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가장 직접적인 원인은 3월 초 배포형 블로그 및 비실명 계정의</a:t>
            </a:r>
            <a:br/>
            <a:r>
              <a:t>대대적인 삭제 조치입니다.</a:t>
            </a:r>
            <a:br/>
            <a:br/>
            <a:r>
              <a:t>네이버는 각 플레이스별로 삭제량과 키워드에 따라 회복 기간을</a:t>
            </a:r>
            <a:br/>
            <a:r>
              <a:t>차등 적용하고 있으며, 저희는 자사 관리 업체 데이터를 토대로</a:t>
            </a:r>
            <a:br/>
            <a:r>
              <a:t>이 회복 패턴을 정확히 파악하고 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20000" y="3780000"/>
            <a:ext cx="5400000" cy="4320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l">
              <a:defRPr sz="1200">
                <a:solidFill>
                  <a:srgbClr val="1A1A2E"/>
                </a:solidFill>
                <a:latin typeface="맑은 고딕"/>
              </a:defRPr>
            </a:pPr>
            <a:r>
              <a:t>✓  N1(SEO) 점수 변동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0000" y="4356000"/>
            <a:ext cx="5400000" cy="4320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l">
              <a:defRPr sz="1200">
                <a:solidFill>
                  <a:srgbClr val="1A1A2E"/>
                </a:solidFill>
                <a:latin typeface="맑은 고딕"/>
              </a:defRPr>
            </a:pPr>
            <a:r>
              <a:t>✓  4개 지점 모두 저품질 해당 없음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20000" y="4932000"/>
            <a:ext cx="5400000" cy="4320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l">
              <a:defRPr sz="1200">
                <a:solidFill>
                  <a:srgbClr val="1A1A2E"/>
                </a:solidFill>
                <a:latin typeface="맑은 고딕"/>
              </a:defRPr>
            </a:pPr>
            <a:r>
              <a:t>✓  정상적인 회복 가능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80000" y="6408000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온다마케팅 | 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nda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119" y="180000"/>
            <a:ext cx="1440000" cy="432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900000" y="648000"/>
            <a:ext cx="540000" cy="540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000"/>
          <a:lstStyle/>
          <a:p>
            <a:pPr algn="ctr">
              <a:defRPr sz="2400" b="1">
                <a:solidFill>
                  <a:srgbClr val="FFFFFF"/>
                </a:solidFill>
                <a:latin typeface="맑은 고딕"/>
              </a:defRPr>
            </a:pPr>
            <a:r>
              <a:t>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0000" y="684000"/>
            <a:ext cx="967212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맑은 고딕"/>
              </a:defRPr>
            </a:pPr>
            <a:r>
              <a:t>블로그 대량 삭제, 어떻게 상쇄합니까?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0000" y="1440000"/>
            <a:ext cx="540000" cy="5400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000"/>
          <a:lstStyle/>
          <a:p>
            <a:pPr algn="ctr">
              <a:defRPr sz="2400" b="1">
                <a:solidFill>
                  <a:srgbClr val="FFFFFF"/>
                </a:solidFill>
                <a:latin typeface="맑은 고딕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0000" y="1475999"/>
            <a:ext cx="967212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단순 재배포는 오히려 독입니다.</a:t>
            </a:r>
            <a:br/>
            <a:br/>
            <a:r>
              <a:t>현재는 2주 단위, 빠르면 1주 단위로 내부 가중치가 변동되고 있습니다.</a:t>
            </a:r>
            <a:br/>
            <a:r>
              <a:t>CLOVA AI 도입 이후 유입 경로, fingerprint 유사성, 패턴이 있는 방식의</a:t>
            </a:r>
            <a:br/>
            <a:r>
              <a:t>작업은 효율이 급락하고 순위 하락으로 이어지고 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20000" y="3960000"/>
            <a:ext cx="9672120" cy="720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l">
              <a:defRPr sz="1200">
                <a:solidFill>
                  <a:srgbClr val="1A1A2E"/>
                </a:solidFill>
                <a:latin typeface="맑은 고딕"/>
              </a:defRPr>
            </a:pPr>
            <a:r>
              <a:t>이는 6장에 첨부해 드린 당사 관리 업체의 실제 데이터를 통해서도</a:t>
            </a:r>
            <a:br/>
            <a:r>
              <a:t>확인하실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80000" y="6408000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온다마케팅 | 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nda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119" y="180000"/>
            <a:ext cx="1440000" cy="432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900000" y="648000"/>
            <a:ext cx="540000" cy="540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000"/>
          <a:lstStyle/>
          <a:p>
            <a:pPr algn="ctr">
              <a:defRPr sz="2400" b="1">
                <a:solidFill>
                  <a:srgbClr val="FFFFFF"/>
                </a:solidFill>
                <a:latin typeface="맑은 고딕"/>
              </a:defRPr>
            </a:pPr>
            <a:r>
              <a:t>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0000" y="684000"/>
            <a:ext cx="967212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맑은 고딕"/>
              </a:defRPr>
            </a:pPr>
            <a:r>
              <a:t>급락 지점의 1단계 회복 플랜은?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0000" y="1440000"/>
            <a:ext cx="540000" cy="5400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000"/>
          <a:lstStyle/>
          <a:p>
            <a:pPr algn="ctr">
              <a:defRPr sz="2400" b="1">
                <a:solidFill>
                  <a:srgbClr val="FFFFFF"/>
                </a:solidFill>
                <a:latin typeface="맑은 고딕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0000" y="1475999"/>
            <a:ext cx="967212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패턴이 드러날 수밖에 없는 단순 트래픽 작업은 동일한 리스크를 반복합니다.</a:t>
            </a:r>
            <a:br/>
            <a:r>
              <a:t>그러나 경쟁사 전부가 트래픽을 넣고 있는 상황에서 트래픽 없는 순위 상승 역시 불가능합니다.</a:t>
            </a:r>
            <a:br/>
            <a:br/>
            <a:r>
              <a:t>핵심 접근: 패턴화되지 않는 작업, AI가 감지할 수 없는 방식으로</a:t>
            </a:r>
            <a:br/>
            <a:r>
              <a:t>트래픽을 설계합니다.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000" y="3780000"/>
            <a:ext cx="10392120" cy="900000"/>
          </a:xfrm>
          <a:prstGeom prst="roundRect">
            <a:avLst/>
          </a:prstGeom>
          <a:solidFill>
            <a:srgbClr val="FEF9EF"/>
          </a:solidFill>
          <a:ln w="19050">
            <a:solidFill>
              <a:srgbClr val="D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l">
              <a:defRPr sz="1200">
                <a:solidFill>
                  <a:srgbClr val="1A1A2E"/>
                </a:solidFill>
                <a:latin typeface="맑은 고딕"/>
              </a:defRPr>
            </a:pPr>
            <a:r>
              <a:t>저희가 약속드리는 것:</a:t>
            </a:r>
            <a:br/>
            <a:r>
              <a:t>지나치게 공격적이지도, 지나치게 느리지도 않은 안정적인 작업 속도를 유지하면서,</a:t>
            </a:r>
            <a:br/>
            <a:r>
              <a:t>회복과 방어를 동시에 진행하겠습니다.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80000" y="6408000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온다마케팅 | 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540000"/>
            <a:ext cx="1039212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맑은 고딕"/>
              </a:defRPr>
            </a:pPr>
            <a:r>
              <a:t>순위 상승 로직 운용 사례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80000"/>
            <a:ext cx="1039212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853"/>
                </a:solidFill>
                <a:latin typeface="맑은 고딕"/>
              </a:defRPr>
            </a:pPr>
            <a:r>
              <a:t>안정적으로 순위 상승을 이끌어내는 로직을 운용 중입니다.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1620000"/>
            <a:ext cx="48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맑은 고딕"/>
              </a:defRPr>
            </a:pPr>
            <a:r>
              <a:t>사례 A. 정형외과 키워드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1908000"/>
            <a:ext cx="48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D4A853"/>
                </a:solidFill>
                <a:latin typeface="맑은 고딕"/>
              </a:defRPr>
            </a:pPr>
            <a:r>
              <a:t>8위 → 2위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520000"/>
            <a:ext cx="48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맑은 고딕"/>
              </a:defRPr>
            </a:pPr>
            <a:r>
              <a:t>N2 0.4816 (상승세)</a:t>
            </a:r>
          </a:p>
        </p:txBody>
      </p:sp>
      <p:sp>
        <p:nvSpPr>
          <p:cNvPr id="8" name="Rectangle 7"/>
          <p:cNvSpPr/>
          <p:nvPr/>
        </p:nvSpPr>
        <p:spPr>
          <a:xfrm>
            <a:off x="900000" y="2880000"/>
            <a:ext cx="4860000" cy="2520000"/>
          </a:xfrm>
          <a:prstGeom prst="rect">
            <a:avLst/>
          </a:prstGeom>
          <a:solidFill>
            <a:srgbClr val="F3F4F6"/>
          </a:solidFill>
          <a:ln w="19050">
            <a:solidFill>
              <a:srgbClr val="9CA3AF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9CA3AF"/>
                </a:solidFill>
                <a:latin typeface="맑은 고딕"/>
              </a:defRPr>
            </a:pPr>
            <a:r>
              <a:t>[이미지 자리: 사례 A 그래프]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32120" y="1620000"/>
            <a:ext cx="48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맑은 고딕"/>
              </a:defRPr>
            </a:pPr>
            <a:r>
              <a:t>사례 B. 피부과 키워드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120" y="1908000"/>
            <a:ext cx="48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D4A853"/>
                </a:solidFill>
                <a:latin typeface="맑은 고딕"/>
              </a:defRPr>
            </a:pPr>
            <a:r>
              <a:t>1위 유지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2120" y="2520000"/>
            <a:ext cx="48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맑은 고딕"/>
              </a:defRPr>
            </a:pPr>
            <a:r>
              <a:t>N2 0.5189 | 경쟁 키워드 내 N2 1위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2120" y="2880000"/>
            <a:ext cx="4860000" cy="2520000"/>
          </a:xfrm>
          <a:prstGeom prst="rect">
            <a:avLst/>
          </a:prstGeom>
          <a:solidFill>
            <a:srgbClr val="F3F4F6"/>
          </a:solidFill>
          <a:ln w="19050">
            <a:solidFill>
              <a:srgbClr val="9CA3AF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9CA3AF"/>
                </a:solidFill>
                <a:latin typeface="맑은 고딕"/>
              </a:defRPr>
            </a:pPr>
            <a:r>
              <a:t>[이미지 자리: 사례 B 그래프]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0" y="6408000"/>
            <a:ext cx="18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999AA"/>
                </a:solidFill>
              </a:defRPr>
            </a:pPr>
            <a:r>
              <a:t>온다마케팅 | 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nda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119" y="180000"/>
            <a:ext cx="1440000" cy="43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00000" y="648000"/>
            <a:ext cx="1039212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맑은 고딕"/>
              </a:defRPr>
            </a:pPr>
            <a:r>
              <a:t>3월 블로그 삭제 이후 회복 사례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1188000"/>
            <a:ext cx="14400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0000" y="1512000"/>
            <a:ext cx="3164399" cy="432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0000" y="1512000"/>
            <a:ext cx="3164399" cy="9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000" y="1728000"/>
            <a:ext cx="294839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사례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8000" y="1908000"/>
            <a:ext cx="2948399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맑은 고딕"/>
              </a:defRPr>
            </a:pPr>
            <a:r>
              <a:t>부산피부과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" y="2232000"/>
            <a:ext cx="29483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563EB"/>
                </a:solidFill>
                <a:latin typeface="맑은 고딕"/>
              </a:defRPr>
            </a:pPr>
            <a:r>
              <a:t>14위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8000" y="2736000"/>
            <a:ext cx="294839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맑은 고딕"/>
              </a:defRPr>
            </a:pPr>
            <a:r>
              <a:t>N2 0.4959 (회복 중)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000" y="3024000"/>
            <a:ext cx="29483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블로그 6,121건</a:t>
            </a:r>
            <a:br/>
            <a:r>
              <a:t>리뷰 2,588건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8000" y="3528000"/>
            <a:ext cx="2948399" cy="2088000"/>
          </a:xfrm>
          <a:prstGeom prst="rect">
            <a:avLst/>
          </a:prstGeom>
          <a:solidFill>
            <a:srgbClr val="F3F4F6"/>
          </a:solidFill>
          <a:ln w="19050">
            <a:solidFill>
              <a:srgbClr val="9CA3AF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9CA3AF"/>
                </a:solidFill>
                <a:latin typeface="맑은 고딕"/>
              </a:defRPr>
            </a:pPr>
            <a:r>
              <a:t>[이미지 자리: 사례 C 그래프]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8399" y="1512000"/>
            <a:ext cx="3164399" cy="432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8399" y="1512000"/>
            <a:ext cx="3164399" cy="9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6399" y="1728000"/>
            <a:ext cx="294839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사례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6399" y="1908000"/>
            <a:ext cx="2948399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맑은 고딕"/>
              </a:defRPr>
            </a:pPr>
            <a:r>
              <a:t>대구성형외과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6399" y="2232000"/>
            <a:ext cx="29483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563EB"/>
                </a:solidFill>
                <a:latin typeface="맑은 고딕"/>
              </a:defRPr>
            </a:pPr>
            <a:r>
              <a:t>14위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6399" y="2736000"/>
            <a:ext cx="294839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맑은 고딕"/>
              </a:defRPr>
            </a:pPr>
            <a:r>
              <a:t>N2 0.4148 (회복 중)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6399" y="3024000"/>
            <a:ext cx="29483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블로그 330건</a:t>
            </a:r>
            <a:br/>
            <a:r>
              <a:t>리뷰 726건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06399" y="3528000"/>
            <a:ext cx="2948399" cy="2088000"/>
          </a:xfrm>
          <a:prstGeom prst="rect">
            <a:avLst/>
          </a:prstGeom>
          <a:solidFill>
            <a:srgbClr val="F3F4F6"/>
          </a:solidFill>
          <a:ln w="19050">
            <a:solidFill>
              <a:srgbClr val="9CA3AF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9CA3AF"/>
                </a:solidFill>
                <a:latin typeface="맑은 고딕"/>
              </a:defRPr>
            </a:pPr>
            <a:r>
              <a:t>[이미지 자리: 사례 D 그래프]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96798" y="1512000"/>
            <a:ext cx="3164399" cy="432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96798" y="1512000"/>
            <a:ext cx="3164399" cy="9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04798" y="1728000"/>
            <a:ext cx="294839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사례 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4798" y="1908000"/>
            <a:ext cx="2948399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맑은 고딕"/>
              </a:defRPr>
            </a:pPr>
            <a:r>
              <a:t>신림성형외과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04798" y="2232000"/>
            <a:ext cx="29483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563EB"/>
                </a:solidFill>
                <a:latin typeface="맑은 고딕"/>
              </a:defRPr>
            </a:pPr>
            <a:r>
              <a:t>3위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4798" y="2736000"/>
            <a:ext cx="294839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맑은 고딕"/>
              </a:defRPr>
            </a:pPr>
            <a:r>
              <a:t>N2 0.4371 (결제 진행 중)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04798" y="3024000"/>
            <a:ext cx="29483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블로그 627건</a:t>
            </a:r>
            <a:br/>
            <a:r>
              <a:t>리뷰 363건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04798" y="3528000"/>
            <a:ext cx="2948399" cy="2088000"/>
          </a:xfrm>
          <a:prstGeom prst="rect">
            <a:avLst/>
          </a:prstGeom>
          <a:solidFill>
            <a:srgbClr val="F3F4F6"/>
          </a:solidFill>
          <a:ln w="19050">
            <a:solidFill>
              <a:srgbClr val="9CA3AF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9CA3AF"/>
                </a:solidFill>
                <a:latin typeface="맑은 고딕"/>
              </a:defRPr>
            </a:pPr>
            <a:r>
              <a:t>[이미지 자리: 사례 E 그래프]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80000" y="6408000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온다마케팅 | 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nda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119" y="180000"/>
            <a:ext cx="1440000" cy="43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00000" y="648000"/>
            <a:ext cx="1039212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맑은 고딕"/>
              </a:defRPr>
            </a:pPr>
            <a:r>
              <a:t>미용실 업종 레퍼런스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1080000"/>
            <a:ext cx="1039212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맑은 고딕"/>
              </a:defRPr>
            </a:pPr>
            <a:r>
              <a:t>귀사와 동일한 업종에서의 실제 운영 실적입니다.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0000" y="1512000"/>
            <a:ext cx="4860000" cy="18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0000" y="1512000"/>
            <a:ext cx="4860000" cy="9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0000" y="1728000"/>
            <a:ext cx="45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맑은 고딕"/>
              </a:defRPr>
            </a:pPr>
            <a:r>
              <a:t>사례 F. 미용실 키워드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1980000"/>
            <a:ext cx="45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563EB"/>
                </a:solidFill>
                <a:latin typeface="맑은 고딕"/>
              </a:defRPr>
            </a:pPr>
            <a:r>
              <a:t>15위 → 2위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592000"/>
            <a:ext cx="4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맑은 고딕"/>
              </a:defRPr>
            </a:pPr>
            <a:r>
              <a:t>1주 만에 13계단 상승 | N2 0.4541</a:t>
            </a:r>
            <a:br/>
            <a:r>
              <a:t>블로그 402건 | 리뷰 606건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32120" y="1512000"/>
            <a:ext cx="4860000" cy="18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32120" y="1512000"/>
            <a:ext cx="4860000" cy="9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2120" y="1728000"/>
            <a:ext cx="45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맑은 고딕"/>
              </a:defRPr>
            </a:pPr>
            <a:r>
              <a:t>사례 G. 미용실 키워드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2120" y="1980000"/>
            <a:ext cx="45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563EB"/>
                </a:solidFill>
                <a:latin typeface="맑은 고딕"/>
              </a:defRPr>
            </a:pPr>
            <a:r>
              <a:t>81위 → 40위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2120" y="2592000"/>
            <a:ext cx="4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맑은 고딕"/>
              </a:defRPr>
            </a:pPr>
            <a:r>
              <a:t>2주간 41계단 상승 | N2 0.4460</a:t>
            </a:r>
            <a:br/>
            <a:r>
              <a:t>블로그 257건 | 리뷰 13,780건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0000" y="3600000"/>
            <a:ext cx="4860000" cy="1800000"/>
          </a:xfrm>
          <a:prstGeom prst="rect">
            <a:avLst/>
          </a:prstGeom>
          <a:solidFill>
            <a:srgbClr val="F3F4F6"/>
          </a:solidFill>
          <a:ln w="19050">
            <a:solidFill>
              <a:srgbClr val="9CA3AF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9CA3AF"/>
                </a:solidFill>
                <a:latin typeface="맑은 고딕"/>
              </a:defRPr>
            </a:pPr>
            <a:r>
              <a:t>[이미지 자리: 사례 F 그래프]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32120" y="3600000"/>
            <a:ext cx="4860000" cy="1800000"/>
          </a:xfrm>
          <a:prstGeom prst="rect">
            <a:avLst/>
          </a:prstGeom>
          <a:solidFill>
            <a:srgbClr val="F3F4F6"/>
          </a:solidFill>
          <a:ln w="19050">
            <a:solidFill>
              <a:srgbClr val="9CA3AF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9CA3AF"/>
                </a:solidFill>
                <a:latin typeface="맑은 고딕"/>
              </a:defRPr>
            </a:pPr>
            <a:r>
              <a:t>[이미지 자리: 사례 G 그래프]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000" y="5688000"/>
            <a:ext cx="10392120" cy="540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l">
              <a:defRPr sz="1100">
                <a:solidFill>
                  <a:srgbClr val="1A1A2E"/>
                </a:solidFill>
                <a:latin typeface="맑은 고딕"/>
              </a:defRPr>
            </a:pPr>
            <a:r>
              <a:t>7건 사례 종합: 순위 상승 로직 보유(A,B,F,G) + 회복 실적(C,D,E) + 미용실 성과(F,G)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80000" y="6408000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온다마케팅 | 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nda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119" y="180000"/>
            <a:ext cx="1440000" cy="43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00000" y="648000"/>
            <a:ext cx="1039212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맑은 고딕"/>
              </a:defRPr>
            </a:pPr>
            <a:r>
              <a:t>메인 키워드 하나면 충분합니다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1188000"/>
            <a:ext cx="14400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440000"/>
            <a:ext cx="1039212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플레이스 마케팅은 '키워드'를 올리는 작업이 아니라</a:t>
            </a:r>
            <a:br/>
            <a:r>
              <a:t>플레이스 자체의 점수를 올리는 작업입니다.</a:t>
            </a:r>
            <a:br/>
            <a:r>
              <a:t>점수가 올라가면 연관된 모든 키워드에서 순위가 동반 상승합니다(낙수효과).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000" y="2520000"/>
            <a:ext cx="4860000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00000" y="2520000"/>
            <a:ext cx="4860000" cy="9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0000" y="2700000"/>
            <a:ext cx="45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나성동미용실 (3,980건)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988000"/>
            <a:ext cx="45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  <a:latin typeface="맑은 고딕"/>
              </a:defRPr>
            </a:pPr>
            <a:r>
              <a:t>8위 → 6위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32120" y="2520000"/>
            <a:ext cx="4860000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32120" y="2520000"/>
            <a:ext cx="4860000" cy="9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2120" y="2700000"/>
            <a:ext cx="45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세종미용실 (9,170건)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2120" y="2988000"/>
            <a:ext cx="45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  <a:latin typeface="맑은 고딕"/>
              </a:defRPr>
            </a:pPr>
            <a:r>
              <a:t>16위 → 13위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" y="3888000"/>
            <a:ext cx="6480000" cy="1620000"/>
          </a:xfrm>
          <a:prstGeom prst="rect">
            <a:avLst/>
          </a:prstGeom>
          <a:solidFill>
            <a:srgbClr val="F3F4F6"/>
          </a:solidFill>
          <a:ln w="19050">
            <a:solidFill>
              <a:srgbClr val="9CA3AF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9CA3AF"/>
                </a:solidFill>
                <a:latin typeface="맑은 고딕"/>
              </a:defRPr>
            </a:pPr>
            <a:r>
              <a:t>[이미지 자리: 마크원애비뉴점 낙수효과 데이터]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5688000"/>
            <a:ext cx="103921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맑은 고딕"/>
              </a:defRPr>
            </a:pPr>
            <a:r>
              <a:t>'다정동미용실', '새롬동미용실' 등에서 순위가 낮은 것은 소재지 연관도 차이이며 정상적인 로직입니다.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80000" y="6408000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온다마케팅 | 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540000"/>
            <a:ext cx="1039212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맑은 고딕"/>
              </a:defRPr>
            </a:pPr>
            <a:r>
              <a:t>제안 서비스: 안전보장형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80000"/>
            <a:ext cx="1039212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853"/>
                </a:solidFill>
                <a:latin typeface="맑은 고딕"/>
              </a:defRPr>
            </a:pPr>
            <a:r>
              <a:t>관리형과 순위보장형의 중간 형태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1620000"/>
            <a:ext cx="1039212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DD"/>
                </a:solidFill>
                <a:latin typeface="맑은 고딕"/>
              </a:defRPr>
            </a:pPr>
            <a:r>
              <a:t>단순보장형도 가능합니다. 6장 사례처럼, 저희는 가파른 순위 상승 로직을 보유하고</a:t>
            </a:r>
            <a:br/>
            <a:r>
              <a:t>실제 운영 중입니다. 다만 보장형 구조상 공격적인 작업이 수반되고,</a:t>
            </a:r>
            <a:br/>
            <a:r>
              <a:t>이후 순위 하락 리스크를 다시 떠안게 되는 구조입니다.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00000" y="2880000"/>
          <a:ext cx="10392120" cy="12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0"/>
                <a:gridCol w="7512120"/>
              </a:tblGrid>
              <a:tr h="324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내부 로직 항목</a:t>
                      </a: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세부 내용</a:t>
                      </a: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키워드 세분화</a:t>
                      </a:r>
                    </a:p>
                  </a:txBody>
                  <a:tcPr marL="72000" marR="72000" marT="36000" marB="36000">
                    <a:solidFill>
                      <a:srgbClr val="2437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10유입 단위로 분할하여 패턴 감지를 회피</a:t>
                      </a:r>
                    </a:p>
                  </a:txBody>
                  <a:tcPr marL="72000" marR="72000" marT="36000" marB="36000">
                    <a:solidFill>
                      <a:srgbClr val="24375E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유입경로 다양화</a:t>
                      </a:r>
                    </a:p>
                  </a:txBody>
                  <a:tcPr marL="72000" marR="72000" marT="36000" marB="36000">
                    <a:solidFill>
                      <a:srgbClr val="1E30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매일 다른 키워드를 세팅하여 유입 경로를 다변화</a:t>
                      </a:r>
                    </a:p>
                  </a:txBody>
                  <a:tcPr marL="72000" marR="72000" marT="36000" marB="36000">
                    <a:solidFill>
                      <a:srgbClr val="1E3055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매체·미션 다양화</a:t>
                      </a:r>
                    </a:p>
                  </a:txBody>
                  <a:tcPr marL="72000" marR="72000" marT="36000" marB="36000">
                    <a:solidFill>
                      <a:srgbClr val="2437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단일 매체/미션 반복을 지양하고 다양한 조합으로 운영</a:t>
                      </a:r>
                    </a:p>
                  </a:txBody>
                  <a:tcPr marL="72000" marR="72000" marT="36000" marB="36000">
                    <a:solidFill>
                      <a:srgbClr val="24375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00000" y="4392000"/>
            <a:ext cx="1039212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AA"/>
                </a:solidFill>
                <a:latin typeface="맑은 고딕"/>
              </a:defRPr>
            </a:pPr>
            <a:r>
              <a:t>※ 위 항목은 내부 로직의 일부 예시이며, 실제 적용 범위는 이보다 넓습니다.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80000" y="6408000"/>
            <a:ext cx="18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999AA"/>
                </a:solidFill>
              </a:defRPr>
            </a:pPr>
            <a:r>
              <a:t>온다마케팅 | 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980000"/>
            <a:ext cx="103921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1A1A2E"/>
                </a:solidFill>
                <a:latin typeface="맑은 고딕"/>
              </a:defRPr>
            </a:pPr>
            <a:r>
              <a:t>다른 업체들의 순위가 일제히 떨어질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700000"/>
            <a:ext cx="103921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1A2E"/>
                </a:solidFill>
                <a:latin typeface="맑은 고딕"/>
              </a:defRPr>
            </a:pPr>
            <a:r>
              <a:t>귀사의 순위를 지킬 수 있는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3420000"/>
            <a:ext cx="1039212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2563EB"/>
                </a:solidFill>
                <a:latin typeface="맑은 고딕"/>
              </a:defRPr>
            </a:pPr>
            <a:r>
              <a:t>가장 확실한 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20000" y="4320000"/>
            <a:ext cx="1800000" cy="288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4680000"/>
            <a:ext cx="103921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A1A2E"/>
                </a:solidFill>
                <a:latin typeface="맑은 고딕"/>
              </a:defRPr>
            </a:pPr>
            <a:r>
              <a:t>안정적으로 유지되는 순위가 실질적인 매출을 만듭니다.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80000" y="6408000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온다마케팅 | 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nda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119" y="180000"/>
            <a:ext cx="1440000" cy="43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00000" y="648000"/>
            <a:ext cx="1039212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맑은 고딕"/>
              </a:defRPr>
            </a:pPr>
            <a:r>
              <a:t>셀프마케팅 + AI로직연구소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1080000"/>
            <a:ext cx="1039212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맑은 고딕"/>
              </a:defRPr>
            </a:pPr>
            <a:r>
              <a:t>출시 예정 | 귀사도 바로 사용 가능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00000" y="1512000"/>
          <a:ext cx="5760000" cy="12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3780000"/>
              </a:tblGrid>
              <a:tr h="324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기능</a:t>
                      </a: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설명</a:t>
                      </a: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실시간 로직 모니터링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경쟁사/동종업계 순위 및 추세를 3.5일 간격으로 감지하여 결과 제공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맞춤 매체 추천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현재 가장 안전하고 효율 좋은 트래픽 매체를 안내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자동 등록 및 전환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충전 시 자동으로 매체 등록 및 전환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200000" y="1512000"/>
            <a:ext cx="4092120" cy="2880000"/>
          </a:xfrm>
          <a:prstGeom prst="rect">
            <a:avLst/>
          </a:prstGeom>
          <a:solidFill>
            <a:srgbClr val="F3F4F6"/>
          </a:solidFill>
          <a:ln w="19050">
            <a:solidFill>
              <a:srgbClr val="9CA3AF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9CA3AF"/>
                </a:solidFill>
                <a:latin typeface="맑은 고딕"/>
              </a:defRPr>
            </a:pPr>
            <a:r>
              <a:t>[이미지 자리: 솔루션 화면]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4860000"/>
            <a:ext cx="1039212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6장에서 보여드린 화면이 자체 운용 중인 솔루션입니다.</a:t>
            </a:r>
            <a:br/>
            <a:r>
              <a:t>미팅 자리에서 상세히 시연 및 설명드리겠습니다.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80000" y="6408000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온다마케팅 | 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nda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119" y="180000"/>
            <a:ext cx="1440000" cy="43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00000" y="648000"/>
            <a:ext cx="1039212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맑은 고딕"/>
              </a:defRPr>
            </a:pPr>
            <a:r>
              <a:t>견적 안내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1188000"/>
            <a:ext cx="14400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00000" y="1440000"/>
          <a:ext cx="10392120" cy="22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1440000"/>
                <a:gridCol w="2264040"/>
                <a:gridCol w="2264040"/>
                <a:gridCol w="2264040"/>
              </a:tblGrid>
              <a:tr h="324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지점</a:t>
                      </a: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현재순위</a:t>
                      </a: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보장형(첫달)</a:t>
                      </a: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보장형(2개월~)</a:t>
                      </a: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안전보장형(권장)</a:t>
                      </a: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마크원애비뉴점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13위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1,800,000원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1,200,000원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900,000원</a:t>
                      </a:r>
                    </a:p>
                  </a:txBody>
                  <a:tcPr marL="72000" marR="72000" marT="36000" marB="36000">
                    <a:solidFill>
                      <a:srgbClr val="FEF9E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나성1호점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15위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1,900,000원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1,200,000원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900,000원</a:t>
                      </a:r>
                    </a:p>
                  </a:txBody>
                  <a:tcPr marL="72000" marR="72000" marT="36000" marB="36000">
                    <a:solidFill>
                      <a:srgbClr val="FEF9E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나성2호점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20위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2,100,000원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1,200,000원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900,000원</a:t>
                      </a:r>
                    </a:p>
                  </a:txBody>
                  <a:tcPr marL="72000" marR="72000" marT="36000" marB="36000">
                    <a:solidFill>
                      <a:srgbClr val="FEF9E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반곡점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21위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2,200,000원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1,200,000원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900,000원</a:t>
                      </a:r>
                    </a:p>
                  </a:txBody>
                  <a:tcPr marL="72000" marR="72000" marT="36000" marB="36000">
                    <a:solidFill>
                      <a:srgbClr val="FEF9E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4지점 합계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—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8,000,000원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4,800,000원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3,600,000원</a:t>
                      </a:r>
                    </a:p>
                  </a:txBody>
                  <a:tcPr marL="72000" marR="72000" marT="36000" marB="36000">
                    <a:solidFill>
                      <a:srgbClr val="FEF9E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</a:p>
                  </a:txBody>
                  <a:tcPr marL="72000" marR="72000" marT="36000" marB="36000">
                    <a:solidFill>
                      <a:srgbClr val="D4A85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00000" y="3960000"/>
            <a:ext cx="103921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맑은 고딕"/>
              </a:defRPr>
            </a:pPr>
            <a:r>
              <a:t>※ 안전보장형은 4개 지점 동시 진행 시 지점당 900,000원 적용 (개별 진행 시 1,000,000원/지점)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80000" y="6408000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온다마케팅 | 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nda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119" y="180000"/>
            <a:ext cx="1440000" cy="43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00000" y="648000"/>
            <a:ext cx="1039212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맑은 고딕"/>
              </a:defRPr>
            </a:pPr>
            <a:r>
              <a:t>운영 조건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1188000"/>
            <a:ext cx="14400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00000" y="1440000"/>
          <a:ext cx="10392119" cy="259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4116239"/>
                <a:gridCol w="4115880"/>
              </a:tblGrid>
              <a:tr h="324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보장형</a:t>
                      </a: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안전보장형(권장)</a:t>
                      </a:r>
                    </a:p>
                  </a:txBody>
                  <a:tcPr marL="72000" marR="72000" marT="36000" marB="36000">
                    <a:solidFill>
                      <a:srgbClr val="1B2A4A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작업 방식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공격적 트래픽 투입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내부 로직 중심 안정적 관리</a:t>
                      </a:r>
                    </a:p>
                  </a:txBody>
                  <a:tcPr marL="72000" marR="72000" marT="36000" marB="36000">
                    <a:solidFill>
                      <a:srgbClr val="FEF9E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순위 상승 속도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빠름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점진적 / 안정적</a:t>
                      </a:r>
                    </a:p>
                  </a:txBody>
                  <a:tcPr marL="72000" marR="72000" marT="36000" marB="36000">
                    <a:solidFill>
                      <a:srgbClr val="FDF4E2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하락 리스크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F4444"/>
                          </a:solidFill>
                          <a:latin typeface="맑은 고딕"/>
                        </a:defRPr>
                      </a:pPr>
                      <a:r>
                        <a:t>높음 (로직 변경 시 급락)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  <a:latin typeface="맑은 고딕"/>
                        </a:defRPr>
                      </a:pPr>
                      <a:r>
                        <a:t>낮음 (패턴 감지 회피)</a:t>
                      </a:r>
                    </a:p>
                  </a:txBody>
                  <a:tcPr marL="72000" marR="72000" marT="36000" marB="36000">
                    <a:solidFill>
                      <a:srgbClr val="FEF9E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결제 방식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노출 후 결제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월 관리비</a:t>
                      </a:r>
                    </a:p>
                  </a:txBody>
                  <a:tcPr marL="72000" marR="72000" marT="36000" marB="36000">
                    <a:solidFill>
                      <a:srgbClr val="FDF4E2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최소 계약 기간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없음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없음</a:t>
                      </a:r>
                    </a:p>
                  </a:txBody>
                  <a:tcPr marL="72000" marR="72000" marT="36000" marB="36000">
                    <a:solidFill>
                      <a:srgbClr val="FEF9E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리포팅 주기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1주일</a:t>
                      </a:r>
                    </a:p>
                  </a:txBody>
                  <a:tcPr marL="72000" marR="72000" marT="36000" marB="36000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1주일 (대시보드 상시 확인)</a:t>
                      </a:r>
                    </a:p>
                  </a:txBody>
                  <a:tcPr marL="72000" marR="72000" marT="36000" marB="36000">
                    <a:solidFill>
                      <a:srgbClr val="FDF4E2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월 비용 (4지점)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첫달 800만 / 유지 480만</a:t>
                      </a:r>
                    </a:p>
                  </a:txBody>
                  <a:tcPr marL="72000" marR="72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360만원 (균일)</a:t>
                      </a:r>
                    </a:p>
                  </a:txBody>
                  <a:tcPr marL="72000" marR="72000" marT="36000" marB="36000">
                    <a:solidFill>
                      <a:srgbClr val="FEF9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00000" y="4500000"/>
            <a:ext cx="10392120" cy="720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l">
              <a:defRPr sz="1200">
                <a:solidFill>
                  <a:srgbClr val="1A1A2E"/>
                </a:solidFill>
                <a:latin typeface="맑은 고딕"/>
              </a:defRPr>
            </a:pPr>
            <a:r>
              <a:t>온다마케팅은 안전보장형을 권장드립니다.</a:t>
            </a:r>
            <a:br/>
            <a:r>
              <a:t>최종 결정은 귀사의 상황과 판단에 따르며, 어떤 방식을 선택하시더라도 최선의 결과를 만들겠습니다.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80000" y="6408000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온다마케팅 | 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nda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0" y="1080000"/>
            <a:ext cx="3600000" cy="108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00000" y="2700000"/>
            <a:ext cx="1039212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맑은 고딕"/>
              </a:defRPr>
            </a:pPr>
            <a:r>
              <a:t>감사합니다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20000" y="3780000"/>
            <a:ext cx="1800000" cy="288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4140000"/>
            <a:ext cx="1039212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4A853"/>
                </a:solidFill>
                <a:latin typeface="맑은 고딕"/>
              </a:defRPr>
            </a:pPr>
            <a:r>
              <a:t>어떤 방식을 선택하시더라도 최선의 결과를 만들겠습니다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5040000"/>
            <a:ext cx="1039212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999AA"/>
                </a:solidFill>
                <a:latin typeface="맑은 고딕"/>
              </a:defRPr>
            </a:pPr>
            <a:r>
              <a:t>온다마케팅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80000" y="6408000"/>
            <a:ext cx="18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999AA"/>
                </a:solidFill>
              </a:defRPr>
            </a:pPr>
            <a:r>
              <a:t>온다마케팅 | 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